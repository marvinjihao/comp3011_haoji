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3" r:id="rId5"/>
    <p:sldId id="264" r:id="rId6"/>
    <p:sldId id="259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17" autoAdjust="0"/>
    <p:restoredTop sz="94660"/>
  </p:normalViewPr>
  <p:slideViewPr>
    <p:cSldViewPr snapToGrid="0">
      <p:cViewPr varScale="1">
        <p:scale>
          <a:sx n="59" d="100"/>
          <a:sy n="59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4DCE2B-9D2E-4EEE-A41D-B37A07F2151E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872BB-DD64-42BD-B521-68C05B6060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888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project is a </a:t>
            </a:r>
            <a:r>
              <a:rPr lang="en-GB" dirty="0" err="1"/>
              <a:t>FastAPI</a:t>
            </a:r>
            <a:r>
              <a:rPr lang="en-GB" dirty="0"/>
              <a:t>-based disaster event intelligence API for storing, ingesting, and analysing disaster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7872BB-DD64-42BD-B521-68C05B6060A2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0911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goal is to build a data-driven API that aggregates disaster events and provides analytical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7872BB-DD64-42BD-B521-68C05B6060A2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315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external data ingestion</a:t>
            </a:r>
          </a:p>
          <a:p>
            <a:r>
              <a:rPr lang="en-GB" dirty="0"/>
              <a:t>database storage</a:t>
            </a:r>
          </a:p>
          <a:p>
            <a:r>
              <a:rPr lang="en-GB" dirty="0"/>
              <a:t>REST endpoints</a:t>
            </a:r>
          </a:p>
          <a:p>
            <a:r>
              <a:rPr lang="en-GB" dirty="0"/>
              <a:t>analytics queries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7872BB-DD64-42BD-B521-68C05B6060A2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234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6BE4F-8CE5-5980-CFF2-60E50D2A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DEC1C-1AC7-7E8B-DAC6-6C40FB4F3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5A650-5513-2B6F-0861-49C518544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external data ingestion</a:t>
            </a:r>
          </a:p>
          <a:p>
            <a:r>
              <a:rPr lang="en-GB" dirty="0"/>
              <a:t>database storage</a:t>
            </a:r>
          </a:p>
          <a:p>
            <a:r>
              <a:rPr lang="en-GB" dirty="0"/>
              <a:t>REST endpoints</a:t>
            </a:r>
          </a:p>
          <a:p>
            <a:r>
              <a:rPr lang="en-GB" dirty="0"/>
              <a:t>analytics queries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DDB1A-A3B3-97B1-3275-96FE3041BD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7872BB-DD64-42BD-B521-68C05B6060A2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78922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F1ECA-EA05-E74C-DAD0-E22D2F25C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DFA54F-9DC4-0CE2-4A8E-D4125475A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D59F6-88AA-B541-0F65-3C7A92BB8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 features</a:t>
            </a:r>
          </a:p>
          <a:p>
            <a:r>
              <a:rPr lang="en-GB" dirty="0"/>
              <a:t>• RESTful API with CRUD operations</a:t>
            </a:r>
          </a:p>
          <a:p>
            <a:r>
              <a:rPr lang="en-GB" dirty="0"/>
              <a:t>• Integration with external disaster datasets</a:t>
            </a:r>
          </a:p>
          <a:p>
            <a:r>
              <a:rPr lang="en-GB" dirty="0"/>
              <a:t>• Analytical endpoints for spatial and temporal insights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376EE-B867-4C6E-A485-4B76434F39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7872BB-DD64-42BD-B521-68C05B6060A2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508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The API follows REST principles and provides full CRUD operations on disaster events.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7872BB-DD64-42BD-B521-68C05B6060A2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1392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 features</a:t>
            </a:r>
          </a:p>
          <a:p>
            <a:r>
              <a:rPr lang="en-GB" dirty="0"/>
              <a:t>• RESTful API with CRUD operations</a:t>
            </a:r>
          </a:p>
          <a:p>
            <a:r>
              <a:rPr lang="en-GB" dirty="0"/>
              <a:t>• Integration with external disaster datasets</a:t>
            </a:r>
          </a:p>
          <a:p>
            <a:r>
              <a:rPr lang="en-GB" dirty="0"/>
              <a:t>• Analytical endpoints for spatial and temporal insights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7872BB-DD64-42BD-B521-68C05B6060A2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96056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D75D0-208A-DE25-63B6-08854B4D5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2CAF60-4B05-960B-EFC5-DCB4085F7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6E4EC-E6C9-1AF7-5B9F-9366C5BA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44E14A-164D-1A66-7F44-FFB6DEA0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78E21-2542-7597-24F4-7BF050CA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9175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8E09A-8FD5-C29A-A086-FD91297CB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B0860-A86F-7B3F-D226-D77FD656D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35F03-4B82-6245-148D-8E610408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288A7-4E4E-5AC8-E02B-4C61743BA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28A63-63CC-14DA-C952-0204C68B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6031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83295-B193-D5CA-D271-11E41B6BE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D9E18-5620-A5E5-DB35-FA900AF2F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B11D8-915F-C193-A7BE-CD5667238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E15B5-BA29-620E-E979-1C00F554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222C4-237D-C149-394F-D4C0CEEE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117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ED167-8B44-6B67-A5C7-9E85936C4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F8842-7A88-AC28-600C-F27779807C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60D06D-E853-5AD3-B87B-01FAEDACD4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F2153-7D23-2F64-AEE6-660B8B67D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79A43F-6B9E-A015-52AC-091D28BA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7913B-00DA-61D4-9C13-D5F559F8C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82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1C21D-4206-9651-0E1E-B2C55BEF6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901CD5-FBD2-8640-3F10-66513F100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8B62EC-7B35-BA35-671F-E70924FB1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BC6FC-C6B2-BB09-751B-BF21ACB46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5CD7EA-D609-7B7D-BA1E-A617E28CF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8EEFB1-D2DF-9D53-2F14-096DA93E8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B573B9-6522-B98B-B0DB-6BF7CE0F9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DBF543-0A6F-9EAA-90A4-ACFBB9AED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10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5FCA5-3480-0CEF-8FFE-C712A936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18F68-8A8C-328A-6FB4-DB6C3A57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B2D070-EC3F-E971-1081-F81885623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52A276-F91B-8111-ED8A-82380C247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920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77C54C-5755-6445-8CCF-30CE9BE1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930BA5-618C-174D-BF29-E2F48D7A0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BD00A7-14BF-2203-BED1-0527F219B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230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DECAE-985D-FCEC-5006-919973CA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4C11F-129E-5C31-F871-20A11D98E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0E68FF-19F5-DE20-8B98-A405D459F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2E112D-78F3-2C3F-4B17-70AE18277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ECC70B-E6D1-6D1F-89BA-48129C0C5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40452-46EB-A534-81BA-30BDF7393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2283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F6861-E8D3-8B32-C4E5-29EC097A9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7131B2-FEBA-9611-0A63-3EBA7015F8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EFA81-97FD-37D8-2DCA-FE2D7A9C7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A6E2FB-B8EB-A9B2-1890-0A6102160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892B1-AC07-A399-8F8E-52F2045B5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2001C2-0340-5E69-D64C-66663F411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517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75EE-6390-BC79-5C39-724416C6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BF481F-F018-7B3F-E163-5FBEC6D9EC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08B8B-5F32-A5A1-E343-C0D41815C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635C85-A384-C46A-0C3B-A465C86C7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FA06B-09CD-B30C-13DD-C045FB8C1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0182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23D313-2DC6-F441-A54E-CBE7317F04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D6690-C855-AD43-F13C-37A8D93EC2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1DD6C-DCFC-3F3B-EFDD-42507FC74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64879-D4F7-539C-3BBD-C2B15BF9C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2FA29-A0F9-35CD-7B41-12956EAB0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8904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38FD78-5629-0634-08FF-AE4FAE668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5FFF5-6D26-C030-A5EB-4F83C02F8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B82859-C76D-A9AC-89C5-97CDB2B974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D8EBC4-D72F-4504-BB2D-AB1D86E0BAC2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53174-FC5A-1068-550C-9EF75F091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2919F3-4130-DBF9-E10D-E2516003F5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453B4-9CBF-43B4-BB5E-47A0541106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8027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5" name="Rectangle 1054">
            <a:extLst>
              <a:ext uri="{FF2B5EF4-FFF2-40B4-BE49-F238E27FC236}">
                <a16:creationId xmlns:a16="http://schemas.microsoft.com/office/drawing/2014/main" id="{4D4677D2-D5AC-4CF9-9EED-2B89D0A1C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AF695F69-7001-421E-98A8-E74156934A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C275B4-8AEC-C80A-D9F0-86E3247A75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556" r="23555"/>
          <a:stretch>
            <a:fillRect/>
          </a:stretch>
        </p:blipFill>
        <p:spPr>
          <a:xfrm>
            <a:off x="6096001" y="-432498"/>
            <a:ext cx="6095999" cy="7325423"/>
          </a:xfrm>
          <a:custGeom>
            <a:avLst/>
            <a:gdLst/>
            <a:ahLst/>
            <a:cxnLst/>
            <a:rect l="l" t="t" r="r" b="b"/>
            <a:pathLst>
              <a:path w="6095999" h="6858000">
                <a:moveTo>
                  <a:pt x="0" y="0"/>
                </a:moveTo>
                <a:lnTo>
                  <a:pt x="6095999" y="0"/>
                </a:lnTo>
                <a:lnTo>
                  <a:pt x="6095999" y="6858000"/>
                </a:lnTo>
                <a:lnTo>
                  <a:pt x="0" y="6858000"/>
                </a:lnTo>
                <a:lnTo>
                  <a:pt x="0" y="6857999"/>
                </a:lnTo>
                <a:lnTo>
                  <a:pt x="4220980" y="6857999"/>
                </a:lnTo>
                <a:lnTo>
                  <a:pt x="4213164" y="6851010"/>
                </a:lnTo>
                <a:cubicBezTo>
                  <a:pt x="4181666" y="6825777"/>
                  <a:pt x="4066661" y="6744343"/>
                  <a:pt x="4062999" y="6737842"/>
                </a:cubicBezTo>
                <a:cubicBezTo>
                  <a:pt x="4024279" y="6693220"/>
                  <a:pt x="4060463" y="6731339"/>
                  <a:pt x="3994350" y="6686435"/>
                </a:cubicBezTo>
                <a:cubicBezTo>
                  <a:pt x="3947033" y="6670674"/>
                  <a:pt x="3899856" y="6566625"/>
                  <a:pt x="3859426" y="6512643"/>
                </a:cubicBezTo>
                <a:cubicBezTo>
                  <a:pt x="3843619" y="6494605"/>
                  <a:pt x="3819111" y="6476220"/>
                  <a:pt x="3795266" y="6469055"/>
                </a:cubicBezTo>
                <a:cubicBezTo>
                  <a:pt x="3772240" y="6479507"/>
                  <a:pt x="3769424" y="6446115"/>
                  <a:pt x="3752228" y="6440526"/>
                </a:cubicBezTo>
                <a:cubicBezTo>
                  <a:pt x="3742060" y="6447641"/>
                  <a:pt x="3719048" y="6424775"/>
                  <a:pt x="3716355" y="6414007"/>
                </a:cubicBezTo>
                <a:cubicBezTo>
                  <a:pt x="3729286" y="6392352"/>
                  <a:pt x="3629924" y="6387100"/>
                  <a:pt x="3629916" y="6370687"/>
                </a:cubicBezTo>
                <a:cubicBezTo>
                  <a:pt x="3600280" y="6362353"/>
                  <a:pt x="3495200" y="6368444"/>
                  <a:pt x="3479034" y="6339494"/>
                </a:cubicBezTo>
                <a:cubicBezTo>
                  <a:pt x="3420435" y="6317314"/>
                  <a:pt x="3345614" y="6290932"/>
                  <a:pt x="3319627" y="6285893"/>
                </a:cubicBezTo>
                <a:cubicBezTo>
                  <a:pt x="3282294" y="6327705"/>
                  <a:pt x="3185936" y="6185255"/>
                  <a:pt x="3075494" y="6164273"/>
                </a:cubicBezTo>
                <a:cubicBezTo>
                  <a:pt x="3059427" y="6166243"/>
                  <a:pt x="3051440" y="6164859"/>
                  <a:pt x="3050019" y="6153683"/>
                </a:cubicBezTo>
                <a:cubicBezTo>
                  <a:pt x="3016030" y="6146243"/>
                  <a:pt x="2991340" y="6114870"/>
                  <a:pt x="2963636" y="6123708"/>
                </a:cubicBezTo>
                <a:cubicBezTo>
                  <a:pt x="2928425" y="6105855"/>
                  <a:pt x="2947049" y="6092097"/>
                  <a:pt x="2914912" y="6078439"/>
                </a:cubicBezTo>
                <a:lnTo>
                  <a:pt x="2770812" y="6041758"/>
                </a:lnTo>
                <a:cubicBezTo>
                  <a:pt x="2750466" y="6034724"/>
                  <a:pt x="2729222" y="6014032"/>
                  <a:pt x="2708585" y="6007728"/>
                </a:cubicBezTo>
                <a:lnTo>
                  <a:pt x="2687072" y="6003931"/>
                </a:lnTo>
                <a:lnTo>
                  <a:pt x="2674457" y="5991515"/>
                </a:lnTo>
                <a:cubicBezTo>
                  <a:pt x="2668773" y="5988707"/>
                  <a:pt x="2661696" y="5988167"/>
                  <a:pt x="2652298" y="5991525"/>
                </a:cubicBezTo>
                <a:cubicBezTo>
                  <a:pt x="2634345" y="5986939"/>
                  <a:pt x="2583809" y="5969299"/>
                  <a:pt x="2566743" y="5963996"/>
                </a:cubicBezTo>
                <a:lnTo>
                  <a:pt x="2549903" y="5959709"/>
                </a:lnTo>
                <a:lnTo>
                  <a:pt x="2542177" y="5951723"/>
                </a:lnTo>
                <a:cubicBezTo>
                  <a:pt x="2529898" y="5945994"/>
                  <a:pt x="2498812" y="5935402"/>
                  <a:pt x="2476225" y="5925338"/>
                </a:cubicBezTo>
                <a:cubicBezTo>
                  <a:pt x="2457810" y="5911056"/>
                  <a:pt x="2433846" y="5899348"/>
                  <a:pt x="2406656" y="5891344"/>
                </a:cubicBezTo>
                <a:cubicBezTo>
                  <a:pt x="2400991" y="5896275"/>
                  <a:pt x="2393612" y="5885783"/>
                  <a:pt x="2389160" y="5883030"/>
                </a:cubicBezTo>
                <a:cubicBezTo>
                  <a:pt x="2387458" y="5886701"/>
                  <a:pt x="2375233" y="5885881"/>
                  <a:pt x="2372540" y="5881920"/>
                </a:cubicBezTo>
                <a:cubicBezTo>
                  <a:pt x="2293168" y="5849488"/>
                  <a:pt x="2325743" y="5894734"/>
                  <a:pt x="2283811" y="5862541"/>
                </a:cubicBezTo>
                <a:cubicBezTo>
                  <a:pt x="2275730" y="5859531"/>
                  <a:pt x="2268484" y="5859925"/>
                  <a:pt x="2261759" y="5861764"/>
                </a:cubicBezTo>
                <a:lnTo>
                  <a:pt x="2219265" y="5849327"/>
                </a:lnTo>
                <a:cubicBezTo>
                  <a:pt x="2203078" y="5842651"/>
                  <a:pt x="2185672" y="5837119"/>
                  <a:pt x="2167456" y="5832891"/>
                </a:cubicBezTo>
                <a:cubicBezTo>
                  <a:pt x="2161387" y="5839963"/>
                  <a:pt x="2149583" y="5826532"/>
                  <a:pt x="2143288" y="5823218"/>
                </a:cubicBezTo>
                <a:cubicBezTo>
                  <a:pt x="2141966" y="5828274"/>
                  <a:pt x="2126227" y="5828196"/>
                  <a:pt x="2121889" y="5823116"/>
                </a:cubicBezTo>
                <a:cubicBezTo>
                  <a:pt x="2013448" y="5786297"/>
                  <a:pt x="2065303" y="5844161"/>
                  <a:pt x="2004548" y="5804552"/>
                </a:cubicBezTo>
                <a:cubicBezTo>
                  <a:pt x="1993575" y="5801194"/>
                  <a:pt x="1984449" y="5802325"/>
                  <a:pt x="1976317" y="5805346"/>
                </a:cubicBezTo>
                <a:lnTo>
                  <a:pt x="1960968" y="5813703"/>
                </a:lnTo>
                <a:lnTo>
                  <a:pt x="1951886" y="5808313"/>
                </a:lnTo>
                <a:cubicBezTo>
                  <a:pt x="1914205" y="5801767"/>
                  <a:pt x="1900427" y="5810657"/>
                  <a:pt x="1881129" y="5796205"/>
                </a:cubicBezTo>
                <a:cubicBezTo>
                  <a:pt x="1847467" y="5788576"/>
                  <a:pt x="1808824" y="5783942"/>
                  <a:pt x="1778393" y="5776687"/>
                </a:cubicBezTo>
                <a:cubicBezTo>
                  <a:pt x="1764338" y="5756704"/>
                  <a:pt x="1721542" y="5761928"/>
                  <a:pt x="1698544" y="5752677"/>
                </a:cubicBezTo>
                <a:cubicBezTo>
                  <a:pt x="1688689" y="5744367"/>
                  <a:pt x="1680710" y="5741898"/>
                  <a:pt x="1667763" y="5746936"/>
                </a:cubicBezTo>
                <a:cubicBezTo>
                  <a:pt x="1622782" y="5706970"/>
                  <a:pt x="1636232" y="5740258"/>
                  <a:pt x="1589890" y="5720079"/>
                </a:cubicBezTo>
                <a:cubicBezTo>
                  <a:pt x="1550522" y="5700408"/>
                  <a:pt x="1504390" y="5684235"/>
                  <a:pt x="1470745" y="5647268"/>
                </a:cubicBezTo>
                <a:cubicBezTo>
                  <a:pt x="1465307" y="5637473"/>
                  <a:pt x="1447590" y="5631171"/>
                  <a:pt x="1431171" y="5633192"/>
                </a:cubicBezTo>
                <a:cubicBezTo>
                  <a:pt x="1428344" y="5633540"/>
                  <a:pt x="1425665" y="5634127"/>
                  <a:pt x="1423215" y="5634934"/>
                </a:cubicBezTo>
                <a:cubicBezTo>
                  <a:pt x="1404063" y="5609561"/>
                  <a:pt x="1384477" y="5616951"/>
                  <a:pt x="1377158" y="5600720"/>
                </a:cubicBezTo>
                <a:cubicBezTo>
                  <a:pt x="1337416" y="5587406"/>
                  <a:pt x="1299119" y="5594952"/>
                  <a:pt x="1292001" y="5580595"/>
                </a:cubicBezTo>
                <a:cubicBezTo>
                  <a:pt x="1270404" y="5577445"/>
                  <a:pt x="1236263" y="5586393"/>
                  <a:pt x="1224877" y="5570207"/>
                </a:cubicBezTo>
                <a:cubicBezTo>
                  <a:pt x="1218892" y="5580643"/>
                  <a:pt x="1203320" y="5557444"/>
                  <a:pt x="1188481" y="5562311"/>
                </a:cubicBezTo>
                <a:cubicBezTo>
                  <a:pt x="1177571" y="5566931"/>
                  <a:pt x="1170302" y="5560971"/>
                  <a:pt x="1160620" y="5558862"/>
                </a:cubicBezTo>
                <a:cubicBezTo>
                  <a:pt x="1146504" y="5561577"/>
                  <a:pt x="1106544" y="5545833"/>
                  <a:pt x="1097113" y="5537725"/>
                </a:cubicBezTo>
                <a:cubicBezTo>
                  <a:pt x="1076260" y="5511528"/>
                  <a:pt x="1012618" y="5517876"/>
                  <a:pt x="994944" y="5497522"/>
                </a:cubicBezTo>
                <a:cubicBezTo>
                  <a:pt x="987638" y="5493756"/>
                  <a:pt x="980141" y="5491480"/>
                  <a:pt x="972567" y="5490138"/>
                </a:cubicBezTo>
                <a:lnTo>
                  <a:pt x="927036" y="5488921"/>
                </a:lnTo>
                <a:lnTo>
                  <a:pt x="905198" y="5488488"/>
                </a:lnTo>
                <a:cubicBezTo>
                  <a:pt x="920127" y="5466532"/>
                  <a:pt x="847550" y="5479119"/>
                  <a:pt x="871473" y="5463326"/>
                </a:cubicBezTo>
                <a:cubicBezTo>
                  <a:pt x="835241" y="5455796"/>
                  <a:pt x="824844" y="5441869"/>
                  <a:pt x="787335" y="5431076"/>
                </a:cubicBezTo>
                <a:lnTo>
                  <a:pt x="646418" y="5398569"/>
                </a:lnTo>
                <a:cubicBezTo>
                  <a:pt x="594533" y="5378172"/>
                  <a:pt x="569175" y="5376706"/>
                  <a:pt x="522316" y="5365133"/>
                </a:cubicBezTo>
                <a:cubicBezTo>
                  <a:pt x="485699" y="5316148"/>
                  <a:pt x="451396" y="5327743"/>
                  <a:pt x="425051" y="5295085"/>
                </a:cubicBezTo>
                <a:cubicBezTo>
                  <a:pt x="373115" y="5280721"/>
                  <a:pt x="376598" y="5265782"/>
                  <a:pt x="318461" y="5265657"/>
                </a:cubicBezTo>
                <a:lnTo>
                  <a:pt x="266536" y="5232252"/>
                </a:lnTo>
                <a:cubicBezTo>
                  <a:pt x="254867" y="5225616"/>
                  <a:pt x="251642" y="5227516"/>
                  <a:pt x="248444" y="5225838"/>
                </a:cubicBezTo>
                <a:lnTo>
                  <a:pt x="247345" y="5222181"/>
                </a:lnTo>
                <a:lnTo>
                  <a:pt x="237345" y="5217023"/>
                </a:lnTo>
                <a:lnTo>
                  <a:pt x="219603" y="5204977"/>
                </a:lnTo>
                <a:lnTo>
                  <a:pt x="214443" y="5204489"/>
                </a:lnTo>
                <a:lnTo>
                  <a:pt x="184816" y="5189073"/>
                </a:lnTo>
                <a:lnTo>
                  <a:pt x="183534" y="5189699"/>
                </a:lnTo>
                <a:cubicBezTo>
                  <a:pt x="179981" y="5190754"/>
                  <a:pt x="176085" y="5190869"/>
                  <a:pt x="171363" y="5189023"/>
                </a:cubicBezTo>
                <a:cubicBezTo>
                  <a:pt x="165797" y="5204157"/>
                  <a:pt x="163531" y="5192594"/>
                  <a:pt x="150096" y="5185813"/>
                </a:cubicBezTo>
                <a:lnTo>
                  <a:pt x="59253" y="5172817"/>
                </a:lnTo>
                <a:lnTo>
                  <a:pt x="52526" y="5170052"/>
                </a:lnTo>
                <a:lnTo>
                  <a:pt x="52188" y="5170183"/>
                </a:lnTo>
                <a:cubicBezTo>
                  <a:pt x="50293" y="5169980"/>
                  <a:pt x="47917" y="5169219"/>
                  <a:pt x="44687" y="5167637"/>
                </a:cubicBezTo>
                <a:lnTo>
                  <a:pt x="40261" y="5165012"/>
                </a:lnTo>
                <a:lnTo>
                  <a:pt x="27209" y="5159648"/>
                </a:lnTo>
                <a:lnTo>
                  <a:pt x="21368" y="5159036"/>
                </a:lnTo>
                <a:lnTo>
                  <a:pt x="0" y="515885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AF3E2C-D34C-5949-C8D4-7C13EA726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7124" y="5096004"/>
            <a:ext cx="10641924" cy="1014968"/>
          </a:xfrm>
        </p:spPr>
        <p:txBody>
          <a:bodyPr anchor="b">
            <a:normAutofit/>
          </a:bodyPr>
          <a:lstStyle/>
          <a:p>
            <a:pPr algn="l"/>
            <a:r>
              <a:rPr lang="en-GB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Environmental Disaster Monitoring </a:t>
            </a:r>
            <a:br>
              <a:rPr lang="en-GB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GB" sz="3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&amp;  Analytics API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0F25E5-CB1F-BB66-2959-DB232A01AB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877" y="6167853"/>
            <a:ext cx="6931319" cy="349725"/>
          </a:xfrm>
        </p:spPr>
        <p:txBody>
          <a:bodyPr anchor="t">
            <a:normAutofit/>
          </a:bodyPr>
          <a:lstStyle/>
          <a:p>
            <a:pPr algn="l"/>
            <a:r>
              <a:rPr lang="en-GB" sz="1600" dirty="0"/>
              <a:t>COMP3011 Coursework 1                Hao Ji</a:t>
            </a:r>
            <a:endParaRPr lang="en-GB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030" name="Picture 6" descr="API - the key to underwrite disaster risk more efficiently and accurately?  | Swiss Re">
            <a:extLst>
              <a:ext uri="{FF2B5EF4-FFF2-40B4-BE49-F238E27FC236}">
                <a16:creationId xmlns:a16="http://schemas.microsoft.com/office/drawing/2014/main" id="{3F9CC5AA-7B8F-E06C-3E1F-77C7C70C5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87" r="10084" b="-3"/>
          <a:stretch>
            <a:fillRect/>
          </a:stretch>
        </p:blipFill>
        <p:spPr bwMode="auto">
          <a:xfrm>
            <a:off x="-73519" y="-94969"/>
            <a:ext cx="6169518" cy="5158840"/>
          </a:xfrm>
          <a:custGeom>
            <a:avLst/>
            <a:gdLst/>
            <a:ahLst/>
            <a:cxnLst/>
            <a:rect l="l" t="t" r="r" b="b"/>
            <a:pathLst>
              <a:path w="6096000" h="5158850">
                <a:moveTo>
                  <a:pt x="0" y="0"/>
                </a:moveTo>
                <a:lnTo>
                  <a:pt x="6096000" y="0"/>
                </a:lnTo>
                <a:lnTo>
                  <a:pt x="6096000" y="5158850"/>
                </a:lnTo>
                <a:lnTo>
                  <a:pt x="5957305" y="5157644"/>
                </a:lnTo>
                <a:cubicBezTo>
                  <a:pt x="5920540" y="5151975"/>
                  <a:pt x="5887096" y="5153588"/>
                  <a:pt x="5857259" y="5143603"/>
                </a:cubicBezTo>
                <a:cubicBezTo>
                  <a:pt x="5843335" y="5146861"/>
                  <a:pt x="5830921" y="5147051"/>
                  <a:pt x="5821375" y="5137142"/>
                </a:cubicBezTo>
                <a:cubicBezTo>
                  <a:pt x="5786501" y="5134144"/>
                  <a:pt x="5775399" y="5144200"/>
                  <a:pt x="5755916" y="5131695"/>
                </a:cubicBezTo>
                <a:cubicBezTo>
                  <a:pt x="5732132" y="5146996"/>
                  <a:pt x="5732735" y="5139753"/>
                  <a:pt x="5725007" y="5132964"/>
                </a:cubicBezTo>
                <a:lnTo>
                  <a:pt x="5723810" y="5132374"/>
                </a:lnTo>
                <a:lnTo>
                  <a:pt x="5720531" y="5134578"/>
                </a:lnTo>
                <a:lnTo>
                  <a:pt x="5714795" y="5134902"/>
                </a:lnTo>
                <a:lnTo>
                  <a:pt x="5700142" y="5131655"/>
                </a:lnTo>
                <a:lnTo>
                  <a:pt x="5694799" y="5129754"/>
                </a:lnTo>
                <a:cubicBezTo>
                  <a:pt x="5691058" y="5128696"/>
                  <a:pt x="5688491" y="5128320"/>
                  <a:pt x="5686627" y="5128420"/>
                </a:cubicBezTo>
                <a:lnTo>
                  <a:pt x="5686371" y="5128603"/>
                </a:lnTo>
                <a:lnTo>
                  <a:pt x="5678819" y="5126929"/>
                </a:lnTo>
                <a:cubicBezTo>
                  <a:pt x="5666199" y="5123608"/>
                  <a:pt x="5654035" y="5119908"/>
                  <a:pt x="5642547" y="5116000"/>
                </a:cubicBezTo>
                <a:cubicBezTo>
                  <a:pt x="5629445" y="5126457"/>
                  <a:pt x="5588783" y="5104807"/>
                  <a:pt x="5587979" y="5128480"/>
                </a:cubicBezTo>
                <a:cubicBezTo>
                  <a:pt x="5572317" y="5123886"/>
                  <a:pt x="5564904" y="5112774"/>
                  <a:pt x="5566635" y="5128675"/>
                </a:cubicBezTo>
                <a:cubicBezTo>
                  <a:pt x="5561375" y="5127594"/>
                  <a:pt x="5557787" y="5128327"/>
                  <a:pt x="5554953" y="5129937"/>
                </a:cubicBezTo>
                <a:lnTo>
                  <a:pt x="5554039" y="5130763"/>
                </a:lnTo>
                <a:lnTo>
                  <a:pt x="5514254" y="5120517"/>
                </a:lnTo>
                <a:lnTo>
                  <a:pt x="5492156" y="5111382"/>
                </a:lnTo>
                <a:lnTo>
                  <a:pt x="5480446" y="5107855"/>
                </a:lnTo>
                <a:lnTo>
                  <a:pt x="5477744" y="5104402"/>
                </a:lnTo>
                <a:cubicBezTo>
                  <a:pt x="5474490" y="5102038"/>
                  <a:pt x="5469391" y="5100405"/>
                  <a:pt x="5460150" y="5100442"/>
                </a:cubicBezTo>
                <a:lnTo>
                  <a:pt x="5457901" y="5100914"/>
                </a:lnTo>
                <a:lnTo>
                  <a:pt x="5444243" y="5094201"/>
                </a:lnTo>
                <a:cubicBezTo>
                  <a:pt x="5439994" y="5091441"/>
                  <a:pt x="5436419" y="5088231"/>
                  <a:pt x="5433825" y="5084410"/>
                </a:cubicBezTo>
                <a:cubicBezTo>
                  <a:pt x="5379443" y="5093528"/>
                  <a:pt x="5336110" y="5069767"/>
                  <a:pt x="5280996" y="5063773"/>
                </a:cubicBezTo>
                <a:cubicBezTo>
                  <a:pt x="5250806" y="5055129"/>
                  <a:pt x="5168599" y="5059471"/>
                  <a:pt x="5161582" y="5030966"/>
                </a:cubicBezTo>
                <a:cubicBezTo>
                  <a:pt x="5121870" y="5022662"/>
                  <a:pt x="5095637" y="5020496"/>
                  <a:pt x="5042717" y="5013952"/>
                </a:cubicBezTo>
                <a:cubicBezTo>
                  <a:pt x="4991136" y="4983679"/>
                  <a:pt x="4902283" y="4990567"/>
                  <a:pt x="4840514" y="4970468"/>
                </a:cubicBezTo>
                <a:cubicBezTo>
                  <a:pt x="4799904" y="4987615"/>
                  <a:pt x="4824087" y="4969531"/>
                  <a:pt x="4786778" y="4967817"/>
                </a:cubicBezTo>
                <a:cubicBezTo>
                  <a:pt x="4801901" y="4948343"/>
                  <a:pt x="4739845" y="4972374"/>
                  <a:pt x="4743741" y="4948216"/>
                </a:cubicBezTo>
                <a:cubicBezTo>
                  <a:pt x="4736829" y="4948670"/>
                  <a:pt x="4730010" y="4949869"/>
                  <a:pt x="4723136" y="4951257"/>
                </a:cubicBezTo>
                <a:lnTo>
                  <a:pt x="4719535" y="4951970"/>
                </a:lnTo>
                <a:lnTo>
                  <a:pt x="4706143" y="4950704"/>
                </a:lnTo>
                <a:lnTo>
                  <a:pt x="4701098" y="4955500"/>
                </a:lnTo>
                <a:lnTo>
                  <a:pt x="4680034" y="4957289"/>
                </a:lnTo>
                <a:cubicBezTo>
                  <a:pt x="4672339" y="4957161"/>
                  <a:pt x="4664292" y="4956094"/>
                  <a:pt x="4655741" y="4953520"/>
                </a:cubicBezTo>
                <a:cubicBezTo>
                  <a:pt x="4636359" y="4940479"/>
                  <a:pt x="4599701" y="4946454"/>
                  <a:pt x="4569298" y="4940691"/>
                </a:cubicBezTo>
                <a:lnTo>
                  <a:pt x="4555978" y="4935439"/>
                </a:lnTo>
                <a:lnTo>
                  <a:pt x="4508950" y="4932725"/>
                </a:lnTo>
                <a:cubicBezTo>
                  <a:pt x="4495669" y="4931511"/>
                  <a:pt x="4482007" y="4929765"/>
                  <a:pt x="4467838" y="4927057"/>
                </a:cubicBezTo>
                <a:lnTo>
                  <a:pt x="4441949" y="4920349"/>
                </a:lnTo>
                <a:lnTo>
                  <a:pt x="4394719" y="4912853"/>
                </a:lnTo>
                <a:lnTo>
                  <a:pt x="4356810" y="4916186"/>
                </a:lnTo>
                <a:lnTo>
                  <a:pt x="4222145" y="4920166"/>
                </a:lnTo>
                <a:cubicBezTo>
                  <a:pt x="4202488" y="4924963"/>
                  <a:pt x="4184742" y="4944595"/>
                  <a:pt x="4160481" y="4934555"/>
                </a:cubicBezTo>
                <a:cubicBezTo>
                  <a:pt x="4165854" y="4945670"/>
                  <a:pt x="4131661" y="4931019"/>
                  <a:pt x="4124879" y="4940397"/>
                </a:cubicBezTo>
                <a:cubicBezTo>
                  <a:pt x="4120895" y="4948198"/>
                  <a:pt x="4109593" y="4945570"/>
                  <a:pt x="4100114" y="4947117"/>
                </a:cubicBezTo>
                <a:cubicBezTo>
                  <a:pt x="4091835" y="4954382"/>
                  <a:pt x="4045978" y="4954676"/>
                  <a:pt x="4030957" y="4950944"/>
                </a:cubicBezTo>
                <a:cubicBezTo>
                  <a:pt x="3989825" y="4935537"/>
                  <a:pt x="3946860" y="4963196"/>
                  <a:pt x="3913764" y="4951738"/>
                </a:cubicBezTo>
                <a:cubicBezTo>
                  <a:pt x="3904534" y="4951024"/>
                  <a:pt x="3896577" y="4951663"/>
                  <a:pt x="3889457" y="4953140"/>
                </a:cubicBezTo>
                <a:lnTo>
                  <a:pt x="3871115" y="4959252"/>
                </a:lnTo>
                <a:lnTo>
                  <a:pt x="3869086" y="4964946"/>
                </a:lnTo>
                <a:lnTo>
                  <a:pt x="3856124" y="4966504"/>
                </a:lnTo>
                <a:lnTo>
                  <a:pt x="3835967" y="4975175"/>
                </a:lnTo>
                <a:cubicBezTo>
                  <a:pt x="3826465" y="4950975"/>
                  <a:pt x="3782586" y="4987146"/>
                  <a:pt x="3785910" y="4965148"/>
                </a:cubicBezTo>
                <a:cubicBezTo>
                  <a:pt x="3750785" y="4971249"/>
                  <a:pt x="3699033" y="4952693"/>
                  <a:pt x="3671085" y="4977741"/>
                </a:cubicBezTo>
                <a:cubicBezTo>
                  <a:pt x="3621255" y="4982620"/>
                  <a:pt x="3562637" y="4994206"/>
                  <a:pt x="3486928" y="4994420"/>
                </a:cubicBezTo>
                <a:cubicBezTo>
                  <a:pt x="3446030" y="4994640"/>
                  <a:pt x="3343460" y="4976299"/>
                  <a:pt x="3280956" y="4975036"/>
                </a:cubicBezTo>
                <a:cubicBezTo>
                  <a:pt x="3227193" y="4980695"/>
                  <a:pt x="3256481" y="4973778"/>
                  <a:pt x="3211563" y="4993919"/>
                </a:cubicBezTo>
                <a:cubicBezTo>
                  <a:pt x="3207119" y="4990757"/>
                  <a:pt x="3170070" y="4988394"/>
                  <a:pt x="3164681" y="4986606"/>
                </a:cubicBezTo>
                <a:lnTo>
                  <a:pt x="3127171" y="4979411"/>
                </a:lnTo>
                <a:lnTo>
                  <a:pt x="3096889" y="4976795"/>
                </a:lnTo>
                <a:cubicBezTo>
                  <a:pt x="3088441" y="4978753"/>
                  <a:pt x="3082883" y="4978233"/>
                  <a:pt x="3078620" y="4976620"/>
                </a:cubicBezTo>
                <a:lnTo>
                  <a:pt x="3074275" y="4973840"/>
                </a:lnTo>
                <a:lnTo>
                  <a:pt x="3036436" y="4968613"/>
                </a:lnTo>
                <a:lnTo>
                  <a:pt x="3031995" y="4969990"/>
                </a:lnTo>
                <a:lnTo>
                  <a:pt x="2994028" y="4967956"/>
                </a:lnTo>
                <a:cubicBezTo>
                  <a:pt x="2992299" y="4970105"/>
                  <a:pt x="2989407" y="4971561"/>
                  <a:pt x="2984001" y="4971609"/>
                </a:cubicBezTo>
                <a:cubicBezTo>
                  <a:pt x="2994191" y="4986644"/>
                  <a:pt x="2981386" y="4977427"/>
                  <a:pt x="2964542" y="4976237"/>
                </a:cubicBezTo>
                <a:cubicBezTo>
                  <a:pt x="2976613" y="4999323"/>
                  <a:pt x="2927627" y="4986817"/>
                  <a:pt x="2921274" y="4999668"/>
                </a:cubicBezTo>
                <a:cubicBezTo>
                  <a:pt x="2908629" y="4998274"/>
                  <a:pt x="2895476" y="4997220"/>
                  <a:pt x="2882111" y="4996632"/>
                </a:cubicBezTo>
                <a:lnTo>
                  <a:pt x="2874282" y="4996582"/>
                </a:lnTo>
                <a:cubicBezTo>
                  <a:pt x="2874237" y="4996658"/>
                  <a:pt x="2874193" y="4996735"/>
                  <a:pt x="2874147" y="4996812"/>
                </a:cubicBezTo>
                <a:cubicBezTo>
                  <a:pt x="2872492" y="4997296"/>
                  <a:pt x="2869935" y="4997466"/>
                  <a:pt x="2865932" y="4997221"/>
                </a:cubicBezTo>
                <a:lnTo>
                  <a:pt x="2860008" y="4996489"/>
                </a:lnTo>
                <a:lnTo>
                  <a:pt x="2844819" y="4996392"/>
                </a:lnTo>
                <a:lnTo>
                  <a:pt x="2839735" y="4997900"/>
                </a:lnTo>
                <a:lnTo>
                  <a:pt x="2837922" y="5000718"/>
                </a:lnTo>
                <a:lnTo>
                  <a:pt x="2836507" y="5000394"/>
                </a:lnTo>
                <a:cubicBezTo>
                  <a:pt x="2825749" y="4995427"/>
                  <a:pt x="2822382" y="4988291"/>
                  <a:pt x="2808859" y="5008050"/>
                </a:cubicBezTo>
                <a:cubicBezTo>
                  <a:pt x="2784233" y="4999995"/>
                  <a:pt x="2779499" y="5012041"/>
                  <a:pt x="2745907" y="5016391"/>
                </a:cubicBezTo>
                <a:cubicBezTo>
                  <a:pt x="2731796" y="5008784"/>
                  <a:pt x="2720518" y="5011549"/>
                  <a:pt x="2709519" y="5017601"/>
                </a:cubicBezTo>
                <a:cubicBezTo>
                  <a:pt x="2676766" y="5014138"/>
                  <a:pt x="2646981" y="5022656"/>
                  <a:pt x="2610212" y="5024813"/>
                </a:cubicBezTo>
                <a:cubicBezTo>
                  <a:pt x="2570359" y="5014992"/>
                  <a:pt x="2550109" y="5032793"/>
                  <a:pt x="2510814" y="5035020"/>
                </a:cubicBezTo>
                <a:cubicBezTo>
                  <a:pt x="2476639" y="5017991"/>
                  <a:pt x="2482834" y="5049980"/>
                  <a:pt x="2462736" y="5056754"/>
                </a:cubicBezTo>
                <a:lnTo>
                  <a:pt x="2457050" y="5057379"/>
                </a:lnTo>
                <a:lnTo>
                  <a:pt x="2442184" y="5054901"/>
                </a:lnTo>
                <a:lnTo>
                  <a:pt x="2436703" y="5053277"/>
                </a:lnTo>
                <a:cubicBezTo>
                  <a:pt x="2432888" y="5052418"/>
                  <a:pt x="2430299" y="5052175"/>
                  <a:pt x="2428451" y="5052373"/>
                </a:cubicBezTo>
                <a:lnTo>
                  <a:pt x="2420551" y="5051292"/>
                </a:lnTo>
                <a:cubicBezTo>
                  <a:pt x="2407700" y="5048633"/>
                  <a:pt x="2395274" y="5045570"/>
                  <a:pt x="2383501" y="5042264"/>
                </a:cubicBezTo>
                <a:cubicBezTo>
                  <a:pt x="2362992" y="5043848"/>
                  <a:pt x="2317884" y="5059023"/>
                  <a:pt x="2297493" y="5060796"/>
                </a:cubicBezTo>
                <a:lnTo>
                  <a:pt x="2261156" y="5052905"/>
                </a:lnTo>
                <a:lnTo>
                  <a:pt x="2200581" y="5036274"/>
                </a:lnTo>
                <a:lnTo>
                  <a:pt x="2198380" y="5036861"/>
                </a:lnTo>
                <a:lnTo>
                  <a:pt x="2116066" y="5030866"/>
                </a:lnTo>
                <a:cubicBezTo>
                  <a:pt x="2111600" y="5028328"/>
                  <a:pt x="2059664" y="5017338"/>
                  <a:pt x="2056754" y="5013653"/>
                </a:cubicBezTo>
                <a:cubicBezTo>
                  <a:pt x="2003393" y="5025622"/>
                  <a:pt x="1998298" y="5020073"/>
                  <a:pt x="1942916" y="5016969"/>
                </a:cubicBezTo>
                <a:cubicBezTo>
                  <a:pt x="1882138" y="5005950"/>
                  <a:pt x="1836966" y="4987831"/>
                  <a:pt x="1796717" y="4981610"/>
                </a:cubicBezTo>
                <a:cubicBezTo>
                  <a:pt x="1724075" y="4970499"/>
                  <a:pt x="1636218" y="4947449"/>
                  <a:pt x="1583222" y="4942334"/>
                </a:cubicBezTo>
                <a:cubicBezTo>
                  <a:pt x="1544265" y="4961611"/>
                  <a:pt x="1556109" y="4938719"/>
                  <a:pt x="1518821" y="4938963"/>
                </a:cubicBezTo>
                <a:cubicBezTo>
                  <a:pt x="1497291" y="4936197"/>
                  <a:pt x="1483221" y="4927794"/>
                  <a:pt x="1471837" y="4925740"/>
                </a:cubicBezTo>
                <a:lnTo>
                  <a:pt x="1450515" y="4926642"/>
                </a:lnTo>
                <a:lnTo>
                  <a:pt x="1437078" y="4926078"/>
                </a:lnTo>
                <a:lnTo>
                  <a:pt x="1432462" y="4931139"/>
                </a:lnTo>
                <a:lnTo>
                  <a:pt x="1411645" y="4934032"/>
                </a:lnTo>
                <a:cubicBezTo>
                  <a:pt x="1384856" y="4931153"/>
                  <a:pt x="1306656" y="4918434"/>
                  <a:pt x="1271729" y="4913863"/>
                </a:cubicBezTo>
                <a:cubicBezTo>
                  <a:pt x="1258697" y="4907976"/>
                  <a:pt x="1213546" y="4901042"/>
                  <a:pt x="1202076" y="4906608"/>
                </a:cubicBezTo>
                <a:cubicBezTo>
                  <a:pt x="1192059" y="4906580"/>
                  <a:pt x="1182171" y="4902320"/>
                  <a:pt x="1174670" y="4909064"/>
                </a:cubicBezTo>
                <a:cubicBezTo>
                  <a:pt x="1163701" y="4916862"/>
                  <a:pt x="1136874" y="4897641"/>
                  <a:pt x="1137035" y="4908989"/>
                </a:cubicBezTo>
                <a:cubicBezTo>
                  <a:pt x="1117838" y="4895687"/>
                  <a:pt x="1091386" y="4911450"/>
                  <a:pt x="1069882" y="4912892"/>
                </a:cubicBezTo>
                <a:cubicBezTo>
                  <a:pt x="1055589" y="4900472"/>
                  <a:pt x="1024570" y="4915744"/>
                  <a:pt x="980935" y="4911119"/>
                </a:cubicBezTo>
                <a:cubicBezTo>
                  <a:pt x="947614" y="4906556"/>
                  <a:pt x="913224" y="4897403"/>
                  <a:pt x="869960" y="4885518"/>
                </a:cubicBezTo>
                <a:cubicBezTo>
                  <a:pt x="819114" y="4856727"/>
                  <a:pt x="768074" y="4850663"/>
                  <a:pt x="721345" y="4839806"/>
                </a:cubicBezTo>
                <a:cubicBezTo>
                  <a:pt x="667944" y="4829906"/>
                  <a:pt x="698286" y="4859338"/>
                  <a:pt x="635428" y="4830000"/>
                </a:cubicBezTo>
                <a:cubicBezTo>
                  <a:pt x="626286" y="4837571"/>
                  <a:pt x="617638" y="4836842"/>
                  <a:pt x="604106" y="4830842"/>
                </a:cubicBezTo>
                <a:cubicBezTo>
                  <a:pt x="583276" y="4833091"/>
                  <a:pt x="539859" y="4845979"/>
                  <a:pt x="510451" y="4843485"/>
                </a:cubicBezTo>
                <a:cubicBezTo>
                  <a:pt x="489781" y="4840800"/>
                  <a:pt x="443867" y="4818678"/>
                  <a:pt x="427656" y="4815877"/>
                </a:cubicBezTo>
                <a:cubicBezTo>
                  <a:pt x="424088" y="4817297"/>
                  <a:pt x="419580" y="4820561"/>
                  <a:pt x="413184" y="4826676"/>
                </a:cubicBezTo>
                <a:cubicBezTo>
                  <a:pt x="387673" y="4816699"/>
                  <a:pt x="379855" y="4828170"/>
                  <a:pt x="341772" y="4829671"/>
                </a:cubicBezTo>
                <a:cubicBezTo>
                  <a:pt x="327795" y="4821005"/>
                  <a:pt x="314729" y="4822794"/>
                  <a:pt x="301266" y="4827842"/>
                </a:cubicBezTo>
                <a:cubicBezTo>
                  <a:pt x="265781" y="4821714"/>
                  <a:pt x="231017" y="4827635"/>
                  <a:pt x="189886" y="4826710"/>
                </a:cubicBezTo>
                <a:cubicBezTo>
                  <a:pt x="147910" y="4813727"/>
                  <a:pt x="121702" y="4829584"/>
                  <a:pt x="77762" y="4828518"/>
                </a:cubicBezTo>
                <a:cubicBezTo>
                  <a:pt x="38733" y="4806108"/>
                  <a:pt x="44308" y="4851138"/>
                  <a:pt x="8164" y="4846203"/>
                </a:cubicBezTo>
                <a:lnTo>
                  <a:pt x="0" y="4843648"/>
                </a:lnTo>
                <a:lnTo>
                  <a:pt x="0" y="408068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 descr="wildfire">
            <a:extLst>
              <a:ext uri="{FF2B5EF4-FFF2-40B4-BE49-F238E27FC236}">
                <a16:creationId xmlns:a16="http://schemas.microsoft.com/office/drawing/2014/main" id="{6D61E2C1-6808-191F-DBD8-E9485D1168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39296" cy="3339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982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3E547B5-89CF-4EC0-96DE-25771AED0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0B8CEB-8279-4E5E-A0CE-1FC9F71736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782" y="0"/>
            <a:ext cx="7421217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1113E5-DF93-5AF8-4730-AABD8A898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6854" y="701457"/>
            <a:ext cx="5546891" cy="1380767"/>
          </a:xfrm>
        </p:spPr>
        <p:txBody>
          <a:bodyPr>
            <a:normAutofit/>
          </a:bodyPr>
          <a:lstStyle/>
          <a:p>
            <a:r>
              <a:rPr lang="en-GB" b="1" dirty="0"/>
              <a:t>Problem &amp; Objectives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6788CB-D6B6-CF0E-B4E5-56D78ED454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052" r="14772" b="-1"/>
          <a:stretch>
            <a:fillRect/>
          </a:stretch>
        </p:blipFill>
        <p:spPr>
          <a:xfrm>
            <a:off x="-72887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EFBB6-0602-906F-9B8F-7BF39C719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855" y="2082224"/>
            <a:ext cx="5680903" cy="4142356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dirty="0"/>
              <a:t>Problem</a:t>
            </a:r>
            <a:endParaRPr lang="en-GB" dirty="0"/>
          </a:p>
          <a:p>
            <a:r>
              <a:rPr lang="en-GB" dirty="0"/>
              <a:t>External disaster APIs provide raw data but not a local intelligence system</a:t>
            </a:r>
          </a:p>
          <a:p>
            <a:r>
              <a:rPr lang="en-GB" dirty="0"/>
              <a:t>A simple single-table CRUD API would be too limited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Objectives</a:t>
            </a:r>
            <a:endParaRPr lang="en-GB" dirty="0"/>
          </a:p>
          <a:p>
            <a:r>
              <a:rPr lang="en-GB" dirty="0"/>
              <a:t>Build a SQL-backed event management API</a:t>
            </a:r>
          </a:p>
          <a:p>
            <a:r>
              <a:rPr lang="en-GB" dirty="0"/>
              <a:t>Ingest real wildfire and earthquake data</a:t>
            </a:r>
          </a:p>
          <a:p>
            <a:r>
              <a:rPr lang="en-GB" dirty="0"/>
              <a:t>Track sources and ingestion runs</a:t>
            </a:r>
          </a:p>
          <a:p>
            <a:r>
              <a:rPr lang="en-GB" dirty="0"/>
              <a:t>Provide analytics and risk assessment</a:t>
            </a:r>
          </a:p>
          <a:p>
            <a:r>
              <a:rPr lang="en-GB" dirty="0"/>
              <a:t>Support authentication, testing, and deployment</a:t>
            </a:r>
          </a:p>
          <a:p>
            <a:pPr marL="0" indent="0"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96357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B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CD81A2A-6ED4-4EF4-A14C-912D31E148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890DD4-BE17-E8C5-6BF3-554FDB256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</p:spPr>
        <p:txBody>
          <a:bodyPr>
            <a:normAutofit/>
          </a:bodyPr>
          <a:lstStyle/>
          <a:p>
            <a:r>
              <a:rPr lang="en-GB" sz="3600" b="1" dirty="0"/>
              <a:t>System Architecture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661932C-CA15-4E17-B115-FAE7CBEE4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98657" y="1"/>
            <a:ext cx="1155142" cy="625027"/>
          </a:xfrm>
          <a:custGeom>
            <a:avLst/>
            <a:gdLst>
              <a:gd name="connsiteX0" fmla="*/ 4784 w 1155142"/>
              <a:gd name="connsiteY0" fmla="*/ 0 h 625027"/>
              <a:gd name="connsiteX1" fmla="*/ 1150358 w 1155142"/>
              <a:gd name="connsiteY1" fmla="*/ 0 h 625027"/>
              <a:gd name="connsiteX2" fmla="*/ 1155142 w 1155142"/>
              <a:gd name="connsiteY2" fmla="*/ 47456 h 625027"/>
              <a:gd name="connsiteX3" fmla="*/ 577571 w 1155142"/>
              <a:gd name="connsiteY3" fmla="*/ 625027 h 625027"/>
              <a:gd name="connsiteX4" fmla="*/ 0 w 1155142"/>
              <a:gd name="connsiteY4" fmla="*/ 47456 h 62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625027">
                <a:moveTo>
                  <a:pt x="4784" y="0"/>
                </a:moveTo>
                <a:lnTo>
                  <a:pt x="1150358" y="0"/>
                </a:lnTo>
                <a:lnTo>
                  <a:pt x="1155142" y="47456"/>
                </a:lnTo>
                <a:cubicBezTo>
                  <a:pt x="1155142" y="366440"/>
                  <a:pt x="896555" y="625027"/>
                  <a:pt x="577571" y="625027"/>
                </a:cubicBezTo>
                <a:cubicBezTo>
                  <a:pt x="258587" y="625027"/>
                  <a:pt x="0" y="366440"/>
                  <a:pt x="0" y="47456"/>
                </a:cubicBezTo>
                <a:close/>
              </a:path>
            </a:pathLst>
          </a:custGeom>
          <a:solidFill>
            <a:schemeClr val="accent5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7B7F0-AC91-C1AE-24AC-231D4EF58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542" y="1432777"/>
            <a:ext cx="4924478" cy="50781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2000" dirty="0"/>
              <a:t>Client / Swagger UI</a:t>
            </a:r>
            <a:br>
              <a:rPr lang="en-GB" sz="2000" dirty="0"/>
            </a:br>
            <a:r>
              <a:rPr lang="en-GB" sz="2000" dirty="0"/>
              <a:t>↓</a:t>
            </a:r>
            <a:br>
              <a:rPr lang="en-GB" sz="2000" dirty="0"/>
            </a:br>
            <a:r>
              <a:rPr lang="en-GB" sz="2000" dirty="0" err="1"/>
              <a:t>FastAPI</a:t>
            </a:r>
            <a:r>
              <a:rPr lang="en-GB" sz="2000" dirty="0"/>
              <a:t> Routes</a:t>
            </a:r>
            <a:br>
              <a:rPr lang="en-GB" sz="2000" dirty="0"/>
            </a:br>
            <a:r>
              <a:rPr lang="en-GB" sz="2000" dirty="0"/>
              <a:t>↓</a:t>
            </a:r>
            <a:br>
              <a:rPr lang="en-GB" sz="2000" dirty="0"/>
            </a:br>
            <a:r>
              <a:rPr lang="en-GB" sz="2000" dirty="0"/>
              <a:t>Auth Dependency</a:t>
            </a:r>
            <a:br>
              <a:rPr lang="en-GB" sz="2000" dirty="0"/>
            </a:br>
            <a:r>
              <a:rPr lang="en-GB" sz="2000" dirty="0"/>
              <a:t>↓</a:t>
            </a:r>
            <a:br>
              <a:rPr lang="en-GB" sz="2000" dirty="0"/>
            </a:br>
            <a:r>
              <a:rPr lang="en-GB" sz="2000" dirty="0"/>
              <a:t>CRUD / Service Layer</a:t>
            </a:r>
            <a:br>
              <a:rPr lang="en-GB" sz="2000" dirty="0"/>
            </a:br>
            <a:r>
              <a:rPr lang="en-GB" sz="2000" dirty="0"/>
              <a:t>↓</a:t>
            </a:r>
            <a:br>
              <a:rPr lang="en-GB" sz="2000" dirty="0"/>
            </a:br>
            <a:r>
              <a:rPr lang="en-GB" sz="2000" dirty="0"/>
              <a:t>SQLite Database</a:t>
            </a:r>
          </a:p>
          <a:p>
            <a:pPr marL="0" indent="0" algn="ctr">
              <a:buNone/>
            </a:pPr>
            <a:endParaRPr lang="en-GB" sz="2000" dirty="0"/>
          </a:p>
          <a:p>
            <a:pPr marL="0" indent="0" algn="ctr">
              <a:buNone/>
            </a:pPr>
            <a:r>
              <a:rPr lang="en-GB" sz="2000" dirty="0"/>
              <a:t>External APIs:</a:t>
            </a:r>
          </a:p>
          <a:p>
            <a:pPr marL="0" indent="0" algn="ctr">
              <a:buNone/>
            </a:pPr>
            <a:r>
              <a:rPr lang="en-GB" sz="2000" dirty="0"/>
              <a:t>NASA EONET</a:t>
            </a:r>
          </a:p>
          <a:p>
            <a:pPr marL="0" indent="0" algn="ctr">
              <a:buNone/>
            </a:pPr>
            <a:r>
              <a:rPr lang="en-GB" sz="2000" dirty="0"/>
              <a:t>USGS Earthquake API</a:t>
            </a:r>
          </a:p>
          <a:p>
            <a:pPr marL="0" indent="0" algn="ctr">
              <a:buNone/>
            </a:pPr>
            <a:r>
              <a:rPr lang="en-GB" sz="2000" dirty="0"/>
              <a:t>↓       </a:t>
            </a:r>
          </a:p>
          <a:p>
            <a:pPr marL="0" indent="0" algn="ctr">
              <a:buNone/>
            </a:pPr>
            <a:r>
              <a:rPr lang="en-GB" sz="2000" dirty="0"/>
              <a:t>Ingestion Module → Database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590ADD5-9383-4D3D-9047-3DA2593CC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8185" y="3423959"/>
            <a:ext cx="540822" cy="540822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C6242A90-523F-C1EE-1D5B-AFB0DD9B52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184" y="1216485"/>
            <a:ext cx="3781051" cy="3781051"/>
          </a:xfrm>
          <a:custGeom>
            <a:avLst/>
            <a:gdLst/>
            <a:ahLst/>
            <a:cxnLst/>
            <a:rect l="l" t="t" r="r" b="b"/>
            <a:pathLst>
              <a:path w="4114800" h="5712488">
                <a:moveTo>
                  <a:pt x="133155" y="0"/>
                </a:moveTo>
                <a:lnTo>
                  <a:pt x="3981645" y="0"/>
                </a:lnTo>
                <a:cubicBezTo>
                  <a:pt x="4055184" y="0"/>
                  <a:pt x="4114800" y="59616"/>
                  <a:pt x="4114800" y="133155"/>
                </a:cubicBezTo>
                <a:lnTo>
                  <a:pt x="4114800" y="5579333"/>
                </a:lnTo>
                <a:cubicBezTo>
                  <a:pt x="4114800" y="5652872"/>
                  <a:pt x="4055184" y="5712488"/>
                  <a:pt x="3981645" y="5712488"/>
                </a:cubicBezTo>
                <a:lnTo>
                  <a:pt x="133155" y="5712488"/>
                </a:lnTo>
                <a:cubicBezTo>
                  <a:pt x="59616" y="5712488"/>
                  <a:pt x="0" y="5652872"/>
                  <a:pt x="0" y="5579333"/>
                </a:cubicBezTo>
                <a:lnTo>
                  <a:pt x="0" y="133155"/>
                </a:lnTo>
                <a:cubicBezTo>
                  <a:pt x="0" y="59616"/>
                  <a:pt x="59616" y="0"/>
                  <a:pt x="133155" y="0"/>
                </a:cubicBezTo>
                <a:close/>
              </a:path>
            </a:pathLst>
          </a:custGeom>
        </p:spPr>
      </p:pic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ABE3E45-88CF-45D8-8D40-C773324D9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49602" y="1"/>
            <a:ext cx="2066948" cy="1621879"/>
          </a:xfrm>
          <a:custGeom>
            <a:avLst/>
            <a:gdLst>
              <a:gd name="connsiteX0" fmla="*/ 0 w 2066948"/>
              <a:gd name="connsiteY0" fmla="*/ 0 h 1621879"/>
              <a:gd name="connsiteX1" fmla="*/ 123825 w 2066948"/>
              <a:gd name="connsiteY1" fmla="*/ 0 h 1621879"/>
              <a:gd name="connsiteX2" fmla="*/ 123825 w 2066948"/>
              <a:gd name="connsiteY2" fmla="*/ 1452620 h 1621879"/>
              <a:gd name="connsiteX3" fmla="*/ 1881378 w 2066948"/>
              <a:gd name="connsiteY3" fmla="*/ 436017 h 1621879"/>
              <a:gd name="connsiteX4" fmla="*/ 1127572 w 2066948"/>
              <a:gd name="connsiteY4" fmla="*/ 0 h 1621879"/>
              <a:gd name="connsiteX5" fmla="*/ 1374887 w 2066948"/>
              <a:gd name="connsiteY5" fmla="*/ 0 h 1621879"/>
              <a:gd name="connsiteX6" fmla="*/ 2035969 w 2066948"/>
              <a:gd name="connsiteY6" fmla="*/ 382391 h 1621879"/>
              <a:gd name="connsiteX7" fmla="*/ 2058648 w 2066948"/>
              <a:gd name="connsiteY7" fmla="*/ 466963 h 1621879"/>
              <a:gd name="connsiteX8" fmla="*/ 2035969 w 2066948"/>
              <a:gd name="connsiteY8" fmla="*/ 489642 h 1621879"/>
              <a:gd name="connsiteX9" fmla="*/ 92869 w 2066948"/>
              <a:gd name="connsiteY9" fmla="*/ 1613592 h 1621879"/>
              <a:gd name="connsiteX10" fmla="*/ 61913 w 2066948"/>
              <a:gd name="connsiteY10" fmla="*/ 1621879 h 1621879"/>
              <a:gd name="connsiteX11" fmla="*/ 0 w 2066948"/>
              <a:gd name="connsiteY11" fmla="*/ 1559967 h 1621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66948" h="1621879">
                <a:moveTo>
                  <a:pt x="0" y="0"/>
                </a:moveTo>
                <a:lnTo>
                  <a:pt x="123825" y="0"/>
                </a:lnTo>
                <a:lnTo>
                  <a:pt x="123825" y="1452620"/>
                </a:lnTo>
                <a:lnTo>
                  <a:pt x="1881378" y="436017"/>
                </a:lnTo>
                <a:lnTo>
                  <a:pt x="1127572" y="0"/>
                </a:lnTo>
                <a:lnTo>
                  <a:pt x="1374887" y="0"/>
                </a:lnTo>
                <a:lnTo>
                  <a:pt x="2035969" y="382391"/>
                </a:lnTo>
                <a:cubicBezTo>
                  <a:pt x="2065582" y="399479"/>
                  <a:pt x="2075745" y="437340"/>
                  <a:pt x="2058648" y="466963"/>
                </a:cubicBezTo>
                <a:cubicBezTo>
                  <a:pt x="2053219" y="476384"/>
                  <a:pt x="2045389" y="484204"/>
                  <a:pt x="2035969" y="489642"/>
                </a:cubicBezTo>
                <a:lnTo>
                  <a:pt x="92869" y="1613592"/>
                </a:lnTo>
                <a:cubicBezTo>
                  <a:pt x="83458" y="1619031"/>
                  <a:pt x="72780" y="1621889"/>
                  <a:pt x="61913" y="1621879"/>
                </a:cubicBezTo>
                <a:cubicBezTo>
                  <a:pt x="27719" y="1621879"/>
                  <a:pt x="0" y="1594161"/>
                  <a:pt x="0" y="1559967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D1692-827B-4C8D-B4A1-134FD04CF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138745" y="1027906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B91ECDA9-56DC-4270-8F33-01C5637B8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463438">
            <a:off x="7456580" y="5166682"/>
            <a:ext cx="1835725" cy="2024785"/>
          </a:xfrm>
          <a:custGeom>
            <a:avLst/>
            <a:gdLst>
              <a:gd name="connsiteX0" fmla="*/ 1801138 w 1835725"/>
              <a:gd name="connsiteY0" fmla="*/ 1622662 h 2024785"/>
              <a:gd name="connsiteX1" fmla="*/ 1835717 w 1835725"/>
              <a:gd name="connsiteY1" fmla="*/ 1680254 h 2024785"/>
              <a:gd name="connsiteX2" fmla="*/ 1812568 w 1835725"/>
              <a:gd name="connsiteY2" fmla="*/ 1877193 h 2024785"/>
              <a:gd name="connsiteX3" fmla="*/ 1776210 w 1835725"/>
              <a:gd name="connsiteY3" fmla="*/ 2024785 h 2024785"/>
              <a:gd name="connsiteX4" fmla="*/ 1655772 w 1835725"/>
              <a:gd name="connsiteY4" fmla="*/ 1983449 h 2024785"/>
              <a:gd name="connsiteX5" fmla="*/ 1687591 w 1835725"/>
              <a:gd name="connsiteY5" fmla="*/ 1854495 h 2024785"/>
              <a:gd name="connsiteX6" fmla="*/ 1708939 w 1835725"/>
              <a:gd name="connsiteY6" fmla="*/ 1673301 h 2024785"/>
              <a:gd name="connsiteX7" fmla="*/ 1778129 w 1835725"/>
              <a:gd name="connsiteY7" fmla="*/ 1615979 h 2024785"/>
              <a:gd name="connsiteX8" fmla="*/ 1801138 w 1835725"/>
              <a:gd name="connsiteY8" fmla="*/ 1622662 h 2024785"/>
              <a:gd name="connsiteX9" fmla="*/ 1585229 w 1835725"/>
              <a:gd name="connsiteY9" fmla="*/ 764759 h 2024785"/>
              <a:gd name="connsiteX10" fmla="*/ 1623024 w 1835725"/>
              <a:gd name="connsiteY10" fmla="*/ 792810 h 2024785"/>
              <a:gd name="connsiteX11" fmla="*/ 1777614 w 1835725"/>
              <a:gd name="connsiteY11" fmla="*/ 1157141 h 2024785"/>
              <a:gd name="connsiteX12" fmla="*/ 1733799 w 1835725"/>
              <a:gd name="connsiteY12" fmla="*/ 1235532 h 2024785"/>
              <a:gd name="connsiteX13" fmla="*/ 1716464 w 1835725"/>
              <a:gd name="connsiteY13" fmla="*/ 1237722 h 2024785"/>
              <a:gd name="connsiteX14" fmla="*/ 1716464 w 1835725"/>
              <a:gd name="connsiteY14" fmla="*/ 1237913 h 2024785"/>
              <a:gd name="connsiteX15" fmla="*/ 1655409 w 1835725"/>
              <a:gd name="connsiteY15" fmla="*/ 1191717 h 2024785"/>
              <a:gd name="connsiteX16" fmla="*/ 1513200 w 1835725"/>
              <a:gd name="connsiteY16" fmla="*/ 856627 h 2024785"/>
              <a:gd name="connsiteX17" fmla="*/ 1538499 w 1835725"/>
              <a:gd name="connsiteY17" fmla="*/ 770415 h 2024785"/>
              <a:gd name="connsiteX18" fmla="*/ 1585229 w 1835725"/>
              <a:gd name="connsiteY18" fmla="*/ 764759 h 2024785"/>
              <a:gd name="connsiteX19" fmla="*/ 477919 w 1835725"/>
              <a:gd name="connsiteY19" fmla="*/ 21437 h 2024785"/>
              <a:gd name="connsiteX20" fmla="*/ 509236 w 1835725"/>
              <a:gd name="connsiteY20" fmla="*/ 84182 h 2024785"/>
              <a:gd name="connsiteX21" fmla="*/ 445829 w 1835725"/>
              <a:gd name="connsiteY21" fmla="*/ 139871 h 2024785"/>
              <a:gd name="connsiteX22" fmla="*/ 437447 w 1835725"/>
              <a:gd name="connsiteY22" fmla="*/ 139395 h 2024785"/>
              <a:gd name="connsiteX23" fmla="*/ 73211 w 1835725"/>
              <a:gd name="connsiteY23" fmla="*/ 137204 h 2024785"/>
              <a:gd name="connsiteX24" fmla="*/ 749 w 1835725"/>
              <a:gd name="connsiteY24" fmla="*/ 84082 h 2024785"/>
              <a:gd name="connsiteX25" fmla="*/ 53871 w 1835725"/>
              <a:gd name="connsiteY25" fmla="*/ 11621 h 2024785"/>
              <a:gd name="connsiteX26" fmla="*/ 58352 w 1835725"/>
              <a:gd name="connsiteY26" fmla="*/ 11093 h 2024785"/>
              <a:gd name="connsiteX27" fmla="*/ 454020 w 1835725"/>
              <a:gd name="connsiteY27" fmla="*/ 13474 h 2024785"/>
              <a:gd name="connsiteX28" fmla="*/ 477919 w 1835725"/>
              <a:gd name="connsiteY28" fmla="*/ 21437 h 2024785"/>
              <a:gd name="connsiteX29" fmla="*/ 957797 w 1835725"/>
              <a:gd name="connsiteY29" fmla="*/ 167970 h 2024785"/>
              <a:gd name="connsiteX30" fmla="*/ 1286982 w 1835725"/>
              <a:gd name="connsiteY30" fmla="*/ 387616 h 2024785"/>
              <a:gd name="connsiteX31" fmla="*/ 1293725 w 1835725"/>
              <a:gd name="connsiteY31" fmla="*/ 477075 h 2024785"/>
              <a:gd name="connsiteX32" fmla="*/ 1245453 w 1835725"/>
              <a:gd name="connsiteY32" fmla="*/ 499154 h 2024785"/>
              <a:gd name="connsiteX33" fmla="*/ 1245167 w 1835725"/>
              <a:gd name="connsiteY33" fmla="*/ 499154 h 2024785"/>
              <a:gd name="connsiteX34" fmla="*/ 1203638 w 1835725"/>
              <a:gd name="connsiteY34" fmla="*/ 484104 h 2024785"/>
              <a:gd name="connsiteX35" fmla="*/ 900647 w 1835725"/>
              <a:gd name="connsiteY35" fmla="*/ 281508 h 2024785"/>
              <a:gd name="connsiteX36" fmla="*/ 872454 w 1835725"/>
              <a:gd name="connsiteY36" fmla="*/ 196164 h 2024785"/>
              <a:gd name="connsiteX37" fmla="*/ 957797 w 1835725"/>
              <a:gd name="connsiteY37" fmla="*/ 167970 h 2024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835725" h="2024785">
                <a:moveTo>
                  <a:pt x="1801138" y="1622662"/>
                </a:moveTo>
                <a:cubicBezTo>
                  <a:pt x="1822105" y="1633400"/>
                  <a:pt x="1836117" y="1655372"/>
                  <a:pt x="1835717" y="1680254"/>
                </a:cubicBezTo>
                <a:cubicBezTo>
                  <a:pt x="1832093" y="1746382"/>
                  <a:pt x="1824354" y="1812154"/>
                  <a:pt x="1812568" y="1877193"/>
                </a:cubicBezTo>
                <a:lnTo>
                  <a:pt x="1776210" y="2024785"/>
                </a:lnTo>
                <a:lnTo>
                  <a:pt x="1655772" y="1983449"/>
                </a:lnTo>
                <a:lnTo>
                  <a:pt x="1687591" y="1854495"/>
                </a:lnTo>
                <a:cubicBezTo>
                  <a:pt x="1698455" y="1794657"/>
                  <a:pt x="1705590" y="1734142"/>
                  <a:pt x="1708939" y="1673301"/>
                </a:cubicBezTo>
                <a:cubicBezTo>
                  <a:pt x="1712216" y="1638363"/>
                  <a:pt x="1743190" y="1612703"/>
                  <a:pt x="1778129" y="1615979"/>
                </a:cubicBezTo>
                <a:cubicBezTo>
                  <a:pt x="1786387" y="1616753"/>
                  <a:pt x="1794149" y="1619084"/>
                  <a:pt x="1801138" y="1622662"/>
                </a:cubicBezTo>
                <a:close/>
                <a:moveTo>
                  <a:pt x="1585229" y="764759"/>
                </a:moveTo>
                <a:cubicBezTo>
                  <a:pt x="1600438" y="768789"/>
                  <a:pt x="1614156" y="778436"/>
                  <a:pt x="1623024" y="792810"/>
                </a:cubicBezTo>
                <a:cubicBezTo>
                  <a:pt x="1689575" y="907319"/>
                  <a:pt x="1741505" y="1029715"/>
                  <a:pt x="1777614" y="1157141"/>
                </a:cubicBezTo>
                <a:cubicBezTo>
                  <a:pt x="1787149" y="1190888"/>
                  <a:pt x="1767537" y="1225969"/>
                  <a:pt x="1733799" y="1235532"/>
                </a:cubicBezTo>
                <a:cubicBezTo>
                  <a:pt x="1728151" y="1237046"/>
                  <a:pt x="1722312" y="1237780"/>
                  <a:pt x="1716464" y="1237722"/>
                </a:cubicBezTo>
                <a:lnTo>
                  <a:pt x="1716464" y="1237913"/>
                </a:lnTo>
                <a:cubicBezTo>
                  <a:pt x="1688070" y="1237913"/>
                  <a:pt x="1663124" y="1219044"/>
                  <a:pt x="1655409" y="1191717"/>
                </a:cubicBezTo>
                <a:cubicBezTo>
                  <a:pt x="1622214" y="1074512"/>
                  <a:pt x="1574437" y="961936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53325" y="762319"/>
                  <a:pt x="1570022" y="760730"/>
                  <a:pt x="1585229" y="764759"/>
                </a:cubicBezTo>
                <a:close/>
                <a:moveTo>
                  <a:pt x="477919" y="21437"/>
                </a:moveTo>
                <a:cubicBezTo>
                  <a:pt x="499341" y="33775"/>
                  <a:pt x="512445" y="58102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89834" y="-4456"/>
                  <a:pt x="322735" y="-3656"/>
                  <a:pt x="454020" y="13474"/>
                </a:cubicBezTo>
                <a:cubicBezTo>
                  <a:pt x="462713" y="14543"/>
                  <a:pt x="470778" y="17324"/>
                  <a:pt x="477919" y="21437"/>
                </a:cubicBezTo>
                <a:close/>
                <a:moveTo>
                  <a:pt x="957797" y="167970"/>
                </a:move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8235" y="164811"/>
                  <a:pt x="926445" y="152188"/>
                  <a:pt x="957797" y="167970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75F47824-961D-465D-84F9-EAE11BC61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9527" y="6033795"/>
            <a:ext cx="1991064" cy="824205"/>
          </a:xfrm>
          <a:custGeom>
            <a:avLst/>
            <a:gdLst>
              <a:gd name="connsiteX0" fmla="*/ 995532 w 1991064"/>
              <a:gd name="connsiteY0" fmla="*/ 0 h 824205"/>
              <a:gd name="connsiteX1" fmla="*/ 1984823 w 1991064"/>
              <a:gd name="connsiteY1" fmla="*/ 784423 h 824205"/>
              <a:gd name="connsiteX2" fmla="*/ 1991064 w 1991064"/>
              <a:gd name="connsiteY2" fmla="*/ 824205 h 824205"/>
              <a:gd name="connsiteX3" fmla="*/ 0 w 1991064"/>
              <a:gd name="connsiteY3" fmla="*/ 824205 h 824205"/>
              <a:gd name="connsiteX4" fmla="*/ 6241 w 1991064"/>
              <a:gd name="connsiteY4" fmla="*/ 784423 h 824205"/>
              <a:gd name="connsiteX5" fmla="*/ 995532 w 1991064"/>
              <a:gd name="connsiteY5" fmla="*/ 0 h 824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91064" h="824205">
                <a:moveTo>
                  <a:pt x="995532" y="0"/>
                </a:moveTo>
                <a:cubicBezTo>
                  <a:pt x="1483521" y="0"/>
                  <a:pt x="1890663" y="336754"/>
                  <a:pt x="1984823" y="784423"/>
                </a:cubicBezTo>
                <a:lnTo>
                  <a:pt x="1991064" y="824205"/>
                </a:lnTo>
                <a:lnTo>
                  <a:pt x="0" y="824205"/>
                </a:lnTo>
                <a:lnTo>
                  <a:pt x="6241" y="784423"/>
                </a:lnTo>
                <a:cubicBezTo>
                  <a:pt x="100402" y="336754"/>
                  <a:pt x="507544" y="0"/>
                  <a:pt x="9955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FEC9DA3E-C1D7-472D-B7C0-F71AE41FB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51696" y="5519196"/>
            <a:ext cx="1340305" cy="1338805"/>
          </a:xfrm>
          <a:custGeom>
            <a:avLst/>
            <a:gdLst>
              <a:gd name="connsiteX0" fmla="*/ 61913 w 1340305"/>
              <a:gd name="connsiteY0" fmla="*/ 0 h 1338805"/>
              <a:gd name="connsiteX1" fmla="*/ 1340305 w 1340305"/>
              <a:gd name="connsiteY1" fmla="*/ 0 h 1338805"/>
              <a:gd name="connsiteX2" fmla="*/ 1340305 w 1340305"/>
              <a:gd name="connsiteY2" fmla="*/ 123825 h 1338805"/>
              <a:gd name="connsiteX3" fmla="*/ 123825 w 1340305"/>
              <a:gd name="connsiteY3" fmla="*/ 123825 h 1338805"/>
              <a:gd name="connsiteX4" fmla="*/ 123825 w 1340305"/>
              <a:gd name="connsiteY4" fmla="*/ 1338805 h 1338805"/>
              <a:gd name="connsiteX5" fmla="*/ 0 w 1340305"/>
              <a:gd name="connsiteY5" fmla="*/ 1338805 h 1338805"/>
              <a:gd name="connsiteX6" fmla="*/ 0 w 1340305"/>
              <a:gd name="connsiteY6" fmla="*/ 61913 h 1338805"/>
              <a:gd name="connsiteX7" fmla="*/ 61913 w 1340305"/>
              <a:gd name="connsiteY7" fmla="*/ 0 h 1338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40305" h="1338805">
                <a:moveTo>
                  <a:pt x="61913" y="0"/>
                </a:moveTo>
                <a:lnTo>
                  <a:pt x="1340305" y="0"/>
                </a:lnTo>
                <a:lnTo>
                  <a:pt x="1340305" y="123825"/>
                </a:lnTo>
                <a:lnTo>
                  <a:pt x="123825" y="123825"/>
                </a:lnTo>
                <a:lnTo>
                  <a:pt x="123825" y="1338805"/>
                </a:lnTo>
                <a:lnTo>
                  <a:pt x="0" y="1338805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63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BE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0BF6F1-212C-14D7-9EE5-8CC16609F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2ECBBA5-2AB4-CFF6-8101-393133F22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65D734-9BA3-734E-3FB0-A30D8227C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93361" cy="1325563"/>
          </a:xfrm>
        </p:spPr>
        <p:txBody>
          <a:bodyPr>
            <a:normAutofit/>
          </a:bodyPr>
          <a:lstStyle/>
          <a:p>
            <a:r>
              <a:rPr lang="en-GB" sz="3600" b="1" dirty="0"/>
              <a:t>System Architecture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C8EF0E3-62CB-421A-10DF-F4923DBEA5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198657" y="1"/>
            <a:ext cx="1155142" cy="625027"/>
          </a:xfrm>
          <a:custGeom>
            <a:avLst/>
            <a:gdLst>
              <a:gd name="connsiteX0" fmla="*/ 4784 w 1155142"/>
              <a:gd name="connsiteY0" fmla="*/ 0 h 625027"/>
              <a:gd name="connsiteX1" fmla="*/ 1150358 w 1155142"/>
              <a:gd name="connsiteY1" fmla="*/ 0 h 625027"/>
              <a:gd name="connsiteX2" fmla="*/ 1155142 w 1155142"/>
              <a:gd name="connsiteY2" fmla="*/ 47456 h 625027"/>
              <a:gd name="connsiteX3" fmla="*/ 577571 w 1155142"/>
              <a:gd name="connsiteY3" fmla="*/ 625027 h 625027"/>
              <a:gd name="connsiteX4" fmla="*/ 0 w 1155142"/>
              <a:gd name="connsiteY4" fmla="*/ 47456 h 62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625027">
                <a:moveTo>
                  <a:pt x="4784" y="0"/>
                </a:moveTo>
                <a:lnTo>
                  <a:pt x="1150358" y="0"/>
                </a:lnTo>
                <a:lnTo>
                  <a:pt x="1155142" y="47456"/>
                </a:lnTo>
                <a:cubicBezTo>
                  <a:pt x="1155142" y="366440"/>
                  <a:pt x="896555" y="625027"/>
                  <a:pt x="577571" y="625027"/>
                </a:cubicBezTo>
                <a:cubicBezTo>
                  <a:pt x="258587" y="625027"/>
                  <a:pt x="0" y="366440"/>
                  <a:pt x="0" y="47456"/>
                </a:cubicBezTo>
                <a:close/>
              </a:path>
            </a:pathLst>
          </a:custGeom>
          <a:solidFill>
            <a:schemeClr val="accent5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E0F68-D46C-F319-7EB2-BB8648C43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749" y="1621880"/>
            <a:ext cx="6943229" cy="50781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Core Data Model</a:t>
            </a:r>
            <a:br>
              <a:rPr lang="en-GB" sz="2000" dirty="0"/>
            </a:br>
            <a:br>
              <a:rPr lang="en-GB" sz="2400" dirty="0"/>
            </a:br>
            <a:r>
              <a:rPr lang="en-GB" sz="2400" dirty="0"/>
              <a:t>1. </a:t>
            </a:r>
            <a:r>
              <a:rPr lang="en-GB" sz="2400" dirty="0" err="1"/>
              <a:t>disaster_events</a:t>
            </a:r>
            <a:r>
              <a:rPr lang="en-GB" sz="2400" dirty="0"/>
              <a:t> (main data)</a:t>
            </a:r>
            <a:br>
              <a:rPr lang="en-GB" sz="2400" dirty="0"/>
            </a:br>
            <a:r>
              <a:rPr lang="en-GB" sz="2400" dirty="0"/>
              <a:t>2. </a:t>
            </a:r>
            <a:r>
              <a:rPr lang="en-GB" sz="2400" dirty="0" err="1"/>
              <a:t>source_metadata</a:t>
            </a:r>
            <a:r>
              <a:rPr lang="en-GB" sz="2400" dirty="0"/>
              <a:t> (source management)</a:t>
            </a:r>
            <a:br>
              <a:rPr lang="en-GB" sz="2400" dirty="0"/>
            </a:br>
            <a:r>
              <a:rPr lang="en-GB" sz="2400" dirty="0"/>
              <a:t>3. </a:t>
            </a:r>
            <a:r>
              <a:rPr lang="en-GB" sz="2400" dirty="0" err="1"/>
              <a:t>ingest_runs</a:t>
            </a:r>
            <a:r>
              <a:rPr lang="en-GB" sz="2400" dirty="0"/>
              <a:t> (ingestion audit)</a:t>
            </a:r>
            <a:endParaRPr lang="en-GB" sz="2000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4EAF65D-A18A-9648-281E-3F0409CF0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8185" y="3423959"/>
            <a:ext cx="540822" cy="540822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E5F78CED-7EDC-A6AD-D12B-F23055872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184" y="1216485"/>
            <a:ext cx="3781051" cy="3781051"/>
          </a:xfrm>
          <a:custGeom>
            <a:avLst/>
            <a:gdLst/>
            <a:ahLst/>
            <a:cxnLst/>
            <a:rect l="l" t="t" r="r" b="b"/>
            <a:pathLst>
              <a:path w="4114800" h="5712488">
                <a:moveTo>
                  <a:pt x="133155" y="0"/>
                </a:moveTo>
                <a:lnTo>
                  <a:pt x="3981645" y="0"/>
                </a:lnTo>
                <a:cubicBezTo>
                  <a:pt x="4055184" y="0"/>
                  <a:pt x="4114800" y="59616"/>
                  <a:pt x="4114800" y="133155"/>
                </a:cubicBezTo>
                <a:lnTo>
                  <a:pt x="4114800" y="5579333"/>
                </a:lnTo>
                <a:cubicBezTo>
                  <a:pt x="4114800" y="5652872"/>
                  <a:pt x="4055184" y="5712488"/>
                  <a:pt x="3981645" y="5712488"/>
                </a:cubicBezTo>
                <a:lnTo>
                  <a:pt x="133155" y="5712488"/>
                </a:lnTo>
                <a:cubicBezTo>
                  <a:pt x="59616" y="5712488"/>
                  <a:pt x="0" y="5652872"/>
                  <a:pt x="0" y="5579333"/>
                </a:cubicBezTo>
                <a:lnTo>
                  <a:pt x="0" y="133155"/>
                </a:lnTo>
                <a:cubicBezTo>
                  <a:pt x="0" y="59616"/>
                  <a:pt x="59616" y="0"/>
                  <a:pt x="133155" y="0"/>
                </a:cubicBezTo>
                <a:close/>
              </a:path>
            </a:pathLst>
          </a:custGeom>
        </p:spPr>
      </p:pic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3244563E-8A7D-C17A-F399-6122598B4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49602" y="1"/>
            <a:ext cx="2066948" cy="1621879"/>
          </a:xfrm>
          <a:custGeom>
            <a:avLst/>
            <a:gdLst>
              <a:gd name="connsiteX0" fmla="*/ 0 w 2066948"/>
              <a:gd name="connsiteY0" fmla="*/ 0 h 1621879"/>
              <a:gd name="connsiteX1" fmla="*/ 123825 w 2066948"/>
              <a:gd name="connsiteY1" fmla="*/ 0 h 1621879"/>
              <a:gd name="connsiteX2" fmla="*/ 123825 w 2066948"/>
              <a:gd name="connsiteY2" fmla="*/ 1452620 h 1621879"/>
              <a:gd name="connsiteX3" fmla="*/ 1881378 w 2066948"/>
              <a:gd name="connsiteY3" fmla="*/ 436017 h 1621879"/>
              <a:gd name="connsiteX4" fmla="*/ 1127572 w 2066948"/>
              <a:gd name="connsiteY4" fmla="*/ 0 h 1621879"/>
              <a:gd name="connsiteX5" fmla="*/ 1374887 w 2066948"/>
              <a:gd name="connsiteY5" fmla="*/ 0 h 1621879"/>
              <a:gd name="connsiteX6" fmla="*/ 2035969 w 2066948"/>
              <a:gd name="connsiteY6" fmla="*/ 382391 h 1621879"/>
              <a:gd name="connsiteX7" fmla="*/ 2058648 w 2066948"/>
              <a:gd name="connsiteY7" fmla="*/ 466963 h 1621879"/>
              <a:gd name="connsiteX8" fmla="*/ 2035969 w 2066948"/>
              <a:gd name="connsiteY8" fmla="*/ 489642 h 1621879"/>
              <a:gd name="connsiteX9" fmla="*/ 92869 w 2066948"/>
              <a:gd name="connsiteY9" fmla="*/ 1613592 h 1621879"/>
              <a:gd name="connsiteX10" fmla="*/ 61913 w 2066948"/>
              <a:gd name="connsiteY10" fmla="*/ 1621879 h 1621879"/>
              <a:gd name="connsiteX11" fmla="*/ 0 w 2066948"/>
              <a:gd name="connsiteY11" fmla="*/ 1559967 h 1621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66948" h="1621879">
                <a:moveTo>
                  <a:pt x="0" y="0"/>
                </a:moveTo>
                <a:lnTo>
                  <a:pt x="123825" y="0"/>
                </a:lnTo>
                <a:lnTo>
                  <a:pt x="123825" y="1452620"/>
                </a:lnTo>
                <a:lnTo>
                  <a:pt x="1881378" y="436017"/>
                </a:lnTo>
                <a:lnTo>
                  <a:pt x="1127572" y="0"/>
                </a:lnTo>
                <a:lnTo>
                  <a:pt x="1374887" y="0"/>
                </a:lnTo>
                <a:lnTo>
                  <a:pt x="2035969" y="382391"/>
                </a:lnTo>
                <a:cubicBezTo>
                  <a:pt x="2065582" y="399479"/>
                  <a:pt x="2075745" y="437340"/>
                  <a:pt x="2058648" y="466963"/>
                </a:cubicBezTo>
                <a:cubicBezTo>
                  <a:pt x="2053219" y="476384"/>
                  <a:pt x="2045389" y="484204"/>
                  <a:pt x="2035969" y="489642"/>
                </a:cubicBezTo>
                <a:lnTo>
                  <a:pt x="92869" y="1613592"/>
                </a:lnTo>
                <a:cubicBezTo>
                  <a:pt x="83458" y="1619031"/>
                  <a:pt x="72780" y="1621889"/>
                  <a:pt x="61913" y="1621879"/>
                </a:cubicBezTo>
                <a:cubicBezTo>
                  <a:pt x="27719" y="1621879"/>
                  <a:pt x="0" y="1594161"/>
                  <a:pt x="0" y="1559967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1E200C5-5556-33AE-3B94-8616EEBFA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138745" y="1027906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F4735D9-04AA-2789-0615-1D62C6A41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463438">
            <a:off x="7456580" y="5166682"/>
            <a:ext cx="1835725" cy="2024785"/>
          </a:xfrm>
          <a:custGeom>
            <a:avLst/>
            <a:gdLst>
              <a:gd name="connsiteX0" fmla="*/ 1801138 w 1835725"/>
              <a:gd name="connsiteY0" fmla="*/ 1622662 h 2024785"/>
              <a:gd name="connsiteX1" fmla="*/ 1835717 w 1835725"/>
              <a:gd name="connsiteY1" fmla="*/ 1680254 h 2024785"/>
              <a:gd name="connsiteX2" fmla="*/ 1812568 w 1835725"/>
              <a:gd name="connsiteY2" fmla="*/ 1877193 h 2024785"/>
              <a:gd name="connsiteX3" fmla="*/ 1776210 w 1835725"/>
              <a:gd name="connsiteY3" fmla="*/ 2024785 h 2024785"/>
              <a:gd name="connsiteX4" fmla="*/ 1655772 w 1835725"/>
              <a:gd name="connsiteY4" fmla="*/ 1983449 h 2024785"/>
              <a:gd name="connsiteX5" fmla="*/ 1687591 w 1835725"/>
              <a:gd name="connsiteY5" fmla="*/ 1854495 h 2024785"/>
              <a:gd name="connsiteX6" fmla="*/ 1708939 w 1835725"/>
              <a:gd name="connsiteY6" fmla="*/ 1673301 h 2024785"/>
              <a:gd name="connsiteX7" fmla="*/ 1778129 w 1835725"/>
              <a:gd name="connsiteY7" fmla="*/ 1615979 h 2024785"/>
              <a:gd name="connsiteX8" fmla="*/ 1801138 w 1835725"/>
              <a:gd name="connsiteY8" fmla="*/ 1622662 h 2024785"/>
              <a:gd name="connsiteX9" fmla="*/ 1585229 w 1835725"/>
              <a:gd name="connsiteY9" fmla="*/ 764759 h 2024785"/>
              <a:gd name="connsiteX10" fmla="*/ 1623024 w 1835725"/>
              <a:gd name="connsiteY10" fmla="*/ 792810 h 2024785"/>
              <a:gd name="connsiteX11" fmla="*/ 1777614 w 1835725"/>
              <a:gd name="connsiteY11" fmla="*/ 1157141 h 2024785"/>
              <a:gd name="connsiteX12" fmla="*/ 1733799 w 1835725"/>
              <a:gd name="connsiteY12" fmla="*/ 1235532 h 2024785"/>
              <a:gd name="connsiteX13" fmla="*/ 1716464 w 1835725"/>
              <a:gd name="connsiteY13" fmla="*/ 1237722 h 2024785"/>
              <a:gd name="connsiteX14" fmla="*/ 1716464 w 1835725"/>
              <a:gd name="connsiteY14" fmla="*/ 1237913 h 2024785"/>
              <a:gd name="connsiteX15" fmla="*/ 1655409 w 1835725"/>
              <a:gd name="connsiteY15" fmla="*/ 1191717 h 2024785"/>
              <a:gd name="connsiteX16" fmla="*/ 1513200 w 1835725"/>
              <a:gd name="connsiteY16" fmla="*/ 856627 h 2024785"/>
              <a:gd name="connsiteX17" fmla="*/ 1538499 w 1835725"/>
              <a:gd name="connsiteY17" fmla="*/ 770415 h 2024785"/>
              <a:gd name="connsiteX18" fmla="*/ 1585229 w 1835725"/>
              <a:gd name="connsiteY18" fmla="*/ 764759 h 2024785"/>
              <a:gd name="connsiteX19" fmla="*/ 477919 w 1835725"/>
              <a:gd name="connsiteY19" fmla="*/ 21437 h 2024785"/>
              <a:gd name="connsiteX20" fmla="*/ 509236 w 1835725"/>
              <a:gd name="connsiteY20" fmla="*/ 84182 h 2024785"/>
              <a:gd name="connsiteX21" fmla="*/ 445829 w 1835725"/>
              <a:gd name="connsiteY21" fmla="*/ 139871 h 2024785"/>
              <a:gd name="connsiteX22" fmla="*/ 437447 w 1835725"/>
              <a:gd name="connsiteY22" fmla="*/ 139395 h 2024785"/>
              <a:gd name="connsiteX23" fmla="*/ 73211 w 1835725"/>
              <a:gd name="connsiteY23" fmla="*/ 137204 h 2024785"/>
              <a:gd name="connsiteX24" fmla="*/ 749 w 1835725"/>
              <a:gd name="connsiteY24" fmla="*/ 84082 h 2024785"/>
              <a:gd name="connsiteX25" fmla="*/ 53871 w 1835725"/>
              <a:gd name="connsiteY25" fmla="*/ 11621 h 2024785"/>
              <a:gd name="connsiteX26" fmla="*/ 58352 w 1835725"/>
              <a:gd name="connsiteY26" fmla="*/ 11093 h 2024785"/>
              <a:gd name="connsiteX27" fmla="*/ 454020 w 1835725"/>
              <a:gd name="connsiteY27" fmla="*/ 13474 h 2024785"/>
              <a:gd name="connsiteX28" fmla="*/ 477919 w 1835725"/>
              <a:gd name="connsiteY28" fmla="*/ 21437 h 2024785"/>
              <a:gd name="connsiteX29" fmla="*/ 957797 w 1835725"/>
              <a:gd name="connsiteY29" fmla="*/ 167970 h 2024785"/>
              <a:gd name="connsiteX30" fmla="*/ 1286982 w 1835725"/>
              <a:gd name="connsiteY30" fmla="*/ 387616 h 2024785"/>
              <a:gd name="connsiteX31" fmla="*/ 1293725 w 1835725"/>
              <a:gd name="connsiteY31" fmla="*/ 477075 h 2024785"/>
              <a:gd name="connsiteX32" fmla="*/ 1245453 w 1835725"/>
              <a:gd name="connsiteY32" fmla="*/ 499154 h 2024785"/>
              <a:gd name="connsiteX33" fmla="*/ 1245167 w 1835725"/>
              <a:gd name="connsiteY33" fmla="*/ 499154 h 2024785"/>
              <a:gd name="connsiteX34" fmla="*/ 1203638 w 1835725"/>
              <a:gd name="connsiteY34" fmla="*/ 484104 h 2024785"/>
              <a:gd name="connsiteX35" fmla="*/ 900647 w 1835725"/>
              <a:gd name="connsiteY35" fmla="*/ 281508 h 2024785"/>
              <a:gd name="connsiteX36" fmla="*/ 872454 w 1835725"/>
              <a:gd name="connsiteY36" fmla="*/ 196164 h 2024785"/>
              <a:gd name="connsiteX37" fmla="*/ 957797 w 1835725"/>
              <a:gd name="connsiteY37" fmla="*/ 167970 h 2024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835725" h="2024785">
                <a:moveTo>
                  <a:pt x="1801138" y="1622662"/>
                </a:moveTo>
                <a:cubicBezTo>
                  <a:pt x="1822105" y="1633400"/>
                  <a:pt x="1836117" y="1655372"/>
                  <a:pt x="1835717" y="1680254"/>
                </a:cubicBezTo>
                <a:cubicBezTo>
                  <a:pt x="1832093" y="1746382"/>
                  <a:pt x="1824354" y="1812154"/>
                  <a:pt x="1812568" y="1877193"/>
                </a:cubicBezTo>
                <a:lnTo>
                  <a:pt x="1776210" y="2024785"/>
                </a:lnTo>
                <a:lnTo>
                  <a:pt x="1655772" y="1983449"/>
                </a:lnTo>
                <a:lnTo>
                  <a:pt x="1687591" y="1854495"/>
                </a:lnTo>
                <a:cubicBezTo>
                  <a:pt x="1698455" y="1794657"/>
                  <a:pt x="1705590" y="1734142"/>
                  <a:pt x="1708939" y="1673301"/>
                </a:cubicBezTo>
                <a:cubicBezTo>
                  <a:pt x="1712216" y="1638363"/>
                  <a:pt x="1743190" y="1612703"/>
                  <a:pt x="1778129" y="1615979"/>
                </a:cubicBezTo>
                <a:cubicBezTo>
                  <a:pt x="1786387" y="1616753"/>
                  <a:pt x="1794149" y="1619084"/>
                  <a:pt x="1801138" y="1622662"/>
                </a:cubicBezTo>
                <a:close/>
                <a:moveTo>
                  <a:pt x="1585229" y="764759"/>
                </a:moveTo>
                <a:cubicBezTo>
                  <a:pt x="1600438" y="768789"/>
                  <a:pt x="1614156" y="778436"/>
                  <a:pt x="1623024" y="792810"/>
                </a:cubicBezTo>
                <a:cubicBezTo>
                  <a:pt x="1689575" y="907319"/>
                  <a:pt x="1741505" y="1029715"/>
                  <a:pt x="1777614" y="1157141"/>
                </a:cubicBezTo>
                <a:cubicBezTo>
                  <a:pt x="1787149" y="1190888"/>
                  <a:pt x="1767537" y="1225969"/>
                  <a:pt x="1733799" y="1235532"/>
                </a:cubicBezTo>
                <a:cubicBezTo>
                  <a:pt x="1728151" y="1237046"/>
                  <a:pt x="1722312" y="1237780"/>
                  <a:pt x="1716464" y="1237722"/>
                </a:cubicBezTo>
                <a:lnTo>
                  <a:pt x="1716464" y="1237913"/>
                </a:lnTo>
                <a:cubicBezTo>
                  <a:pt x="1688070" y="1237913"/>
                  <a:pt x="1663124" y="1219044"/>
                  <a:pt x="1655409" y="1191717"/>
                </a:cubicBezTo>
                <a:cubicBezTo>
                  <a:pt x="1622214" y="1074512"/>
                  <a:pt x="1574437" y="961936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53325" y="762319"/>
                  <a:pt x="1570022" y="760730"/>
                  <a:pt x="1585229" y="764759"/>
                </a:cubicBezTo>
                <a:close/>
                <a:moveTo>
                  <a:pt x="477919" y="21437"/>
                </a:moveTo>
                <a:cubicBezTo>
                  <a:pt x="499341" y="33775"/>
                  <a:pt x="512445" y="58102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89834" y="-4456"/>
                  <a:pt x="322735" y="-3656"/>
                  <a:pt x="454020" y="13474"/>
                </a:cubicBezTo>
                <a:cubicBezTo>
                  <a:pt x="462713" y="14543"/>
                  <a:pt x="470778" y="17324"/>
                  <a:pt x="477919" y="21437"/>
                </a:cubicBezTo>
                <a:close/>
                <a:moveTo>
                  <a:pt x="957797" y="167970"/>
                </a:move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8235" y="164811"/>
                  <a:pt x="926445" y="152188"/>
                  <a:pt x="957797" y="167970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49C0110-9B4C-BAFB-1FC2-705F25237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9527" y="6033795"/>
            <a:ext cx="1991064" cy="824205"/>
          </a:xfrm>
          <a:custGeom>
            <a:avLst/>
            <a:gdLst>
              <a:gd name="connsiteX0" fmla="*/ 995532 w 1991064"/>
              <a:gd name="connsiteY0" fmla="*/ 0 h 824205"/>
              <a:gd name="connsiteX1" fmla="*/ 1984823 w 1991064"/>
              <a:gd name="connsiteY1" fmla="*/ 784423 h 824205"/>
              <a:gd name="connsiteX2" fmla="*/ 1991064 w 1991064"/>
              <a:gd name="connsiteY2" fmla="*/ 824205 h 824205"/>
              <a:gd name="connsiteX3" fmla="*/ 0 w 1991064"/>
              <a:gd name="connsiteY3" fmla="*/ 824205 h 824205"/>
              <a:gd name="connsiteX4" fmla="*/ 6241 w 1991064"/>
              <a:gd name="connsiteY4" fmla="*/ 784423 h 824205"/>
              <a:gd name="connsiteX5" fmla="*/ 995532 w 1991064"/>
              <a:gd name="connsiteY5" fmla="*/ 0 h 824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91064" h="824205">
                <a:moveTo>
                  <a:pt x="995532" y="0"/>
                </a:moveTo>
                <a:cubicBezTo>
                  <a:pt x="1483521" y="0"/>
                  <a:pt x="1890663" y="336754"/>
                  <a:pt x="1984823" y="784423"/>
                </a:cubicBezTo>
                <a:lnTo>
                  <a:pt x="1991064" y="824205"/>
                </a:lnTo>
                <a:lnTo>
                  <a:pt x="0" y="824205"/>
                </a:lnTo>
                <a:lnTo>
                  <a:pt x="6241" y="784423"/>
                </a:lnTo>
                <a:cubicBezTo>
                  <a:pt x="100402" y="336754"/>
                  <a:pt x="507544" y="0"/>
                  <a:pt x="9955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581376A9-5185-FD53-D916-29F5F1ED9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51696" y="5519196"/>
            <a:ext cx="1340305" cy="1338805"/>
          </a:xfrm>
          <a:custGeom>
            <a:avLst/>
            <a:gdLst>
              <a:gd name="connsiteX0" fmla="*/ 61913 w 1340305"/>
              <a:gd name="connsiteY0" fmla="*/ 0 h 1338805"/>
              <a:gd name="connsiteX1" fmla="*/ 1340305 w 1340305"/>
              <a:gd name="connsiteY1" fmla="*/ 0 h 1338805"/>
              <a:gd name="connsiteX2" fmla="*/ 1340305 w 1340305"/>
              <a:gd name="connsiteY2" fmla="*/ 123825 h 1338805"/>
              <a:gd name="connsiteX3" fmla="*/ 123825 w 1340305"/>
              <a:gd name="connsiteY3" fmla="*/ 123825 h 1338805"/>
              <a:gd name="connsiteX4" fmla="*/ 123825 w 1340305"/>
              <a:gd name="connsiteY4" fmla="*/ 1338805 h 1338805"/>
              <a:gd name="connsiteX5" fmla="*/ 0 w 1340305"/>
              <a:gd name="connsiteY5" fmla="*/ 1338805 h 1338805"/>
              <a:gd name="connsiteX6" fmla="*/ 0 w 1340305"/>
              <a:gd name="connsiteY6" fmla="*/ 61913 h 1338805"/>
              <a:gd name="connsiteX7" fmla="*/ 61913 w 1340305"/>
              <a:gd name="connsiteY7" fmla="*/ 0 h 1338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40305" h="1338805">
                <a:moveTo>
                  <a:pt x="61913" y="0"/>
                </a:moveTo>
                <a:lnTo>
                  <a:pt x="1340305" y="0"/>
                </a:lnTo>
                <a:lnTo>
                  <a:pt x="1340305" y="123825"/>
                </a:lnTo>
                <a:lnTo>
                  <a:pt x="123825" y="123825"/>
                </a:lnTo>
                <a:lnTo>
                  <a:pt x="123825" y="1338805"/>
                </a:lnTo>
                <a:lnTo>
                  <a:pt x="0" y="1338805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8739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29FCF8-6EA0-0E8A-7AD6-C811EB7B1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9E33770-D363-A1AB-552E-22B07A32D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91BB5C-9486-13BF-8765-C077759C7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693" y="501652"/>
            <a:ext cx="5425781" cy="238760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 sz="3600" b="1" dirty="0"/>
              <a:t>Version Control</a:t>
            </a:r>
            <a:br>
              <a:rPr lang="en-GB" sz="2800" b="1" dirty="0"/>
            </a:br>
            <a:br>
              <a:rPr lang="en-GB" sz="2800" b="1" dirty="0"/>
            </a:br>
            <a:r>
              <a:rPr lang="en-GB" sz="2800" dirty="0"/>
              <a:t>• Git used for development  </a:t>
            </a:r>
            <a:br>
              <a:rPr lang="en-GB" sz="2800" dirty="0"/>
            </a:br>
            <a:r>
              <a:rPr lang="en-GB" sz="2800" dirty="0"/>
              <a:t>• Clear commit history  </a:t>
            </a:r>
            <a:br>
              <a:rPr lang="en-GB" sz="2800" dirty="0"/>
            </a:br>
            <a:r>
              <a:rPr lang="en-GB" sz="2800" dirty="0"/>
              <a:t>• Available on GitHub repository </a:t>
            </a:r>
            <a:endParaRPr lang="en-US" sz="2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E4DE700-D740-786E-344E-288455B5A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931F7FF-0A87-46C2-C738-404C77EC8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F398944D-CEAE-DECF-4CC1-7CA948EB4A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FD2E3B1-8AB5-1233-613F-4AB7BC7B5A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200294-3469-64D7-529B-C1D5C8EF3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83089CF-FFA8-34C3-55AB-3B044F7DB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E1E68F85-8E70-8E86-ECF8-5C59C2551A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2ECEB02-28BC-73A7-8A8C-C6609706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8F4093-6F2F-D98D-4D60-F393A72B3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86" y="3039818"/>
            <a:ext cx="6394880" cy="3122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950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07EBF-FA19-39C1-D2C2-472AEF91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596" y="57764"/>
            <a:ext cx="10515600" cy="1325563"/>
          </a:xfrm>
        </p:spPr>
        <p:txBody>
          <a:bodyPr>
            <a:normAutofit/>
          </a:bodyPr>
          <a:lstStyle/>
          <a:p>
            <a:r>
              <a:rPr lang="en-GB" sz="3200" b="1" dirty="0"/>
              <a:t>Key Features and Technical Quality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B0034B0-861B-9650-170D-5F6230B28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6654" y="1760910"/>
            <a:ext cx="3333750" cy="28575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F6E2B56-1079-A790-03F9-C683AAA0B9F9}"/>
              </a:ext>
            </a:extLst>
          </p:cNvPr>
          <p:cNvSpPr txBox="1"/>
          <p:nvPr/>
        </p:nvSpPr>
        <p:spPr>
          <a:xfrm>
            <a:off x="8327790" y="3998623"/>
            <a:ext cx="339648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→ </a:t>
            </a:r>
            <a:r>
              <a:rPr lang="en-GB" sz="1400" dirty="0"/>
              <a:t>Please Refer to: API Documentation,</a:t>
            </a:r>
          </a:p>
          <a:p>
            <a:r>
              <a:rPr lang="en-GB" sz="1400" dirty="0"/>
              <a:t>docs/api_documentation.pdf</a:t>
            </a:r>
          </a:p>
          <a:p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1BB3CC-CF3F-B8B2-0483-30BC7B7FF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6" y="1172482"/>
            <a:ext cx="11291207" cy="492351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b="1" dirty="0"/>
              <a:t>Core Features</a:t>
            </a:r>
          </a:p>
          <a:p>
            <a:pPr marL="0" indent="0">
              <a:buNone/>
            </a:pPr>
            <a:r>
              <a:rPr lang="en-GB" dirty="0"/>
              <a:t>• Full CRUD for disaster events </a:t>
            </a:r>
            <a:br>
              <a:rPr lang="en-GB" dirty="0"/>
            </a:br>
            <a:r>
              <a:rPr lang="en-GB" dirty="0"/>
              <a:t>• External ingestion (NASA EONET, USGS) </a:t>
            </a:r>
            <a:br>
              <a:rPr lang="en-GB" dirty="0"/>
            </a:br>
            <a:r>
              <a:rPr lang="en-GB" dirty="0"/>
              <a:t>• Analytics (summary, hotspots, risk assessment) </a:t>
            </a:r>
            <a:br>
              <a:rPr lang="en-GB" dirty="0"/>
            </a:br>
            <a:r>
              <a:rPr lang="en-GB" dirty="0"/>
              <a:t>• Health and database checks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Technical Quality</a:t>
            </a:r>
          </a:p>
          <a:p>
            <a:pPr marL="0" indent="0">
              <a:buNone/>
            </a:pPr>
            <a:r>
              <a:rPr lang="en-GB" dirty="0"/>
              <a:t>• HTTP Basic Authentication </a:t>
            </a:r>
            <a:br>
              <a:rPr lang="en-GB" dirty="0"/>
            </a:br>
            <a:r>
              <a:rPr lang="en-GB" dirty="0"/>
              <a:t>• </a:t>
            </a:r>
            <a:r>
              <a:rPr lang="en-GB" dirty="0" err="1"/>
              <a:t>Pydantic</a:t>
            </a:r>
            <a:r>
              <a:rPr lang="en-GB" dirty="0"/>
              <a:t> validation </a:t>
            </a:r>
            <a:br>
              <a:rPr lang="en-GB" dirty="0"/>
            </a:br>
            <a:r>
              <a:rPr lang="en-GB" dirty="0"/>
              <a:t>• Proper HTTP status codes </a:t>
            </a:r>
            <a:br>
              <a:rPr lang="en-GB" dirty="0"/>
            </a:br>
            <a:r>
              <a:rPr lang="en-GB" dirty="0"/>
              <a:t>• Automated tests (</a:t>
            </a:r>
            <a:r>
              <a:rPr lang="en-GB" dirty="0" err="1"/>
              <a:t>Pytest</a:t>
            </a:r>
            <a:r>
              <a:rPr lang="en-GB" dirty="0"/>
              <a:t>) </a:t>
            </a:r>
            <a:br>
              <a:rPr lang="en-GB" dirty="0"/>
            </a:br>
            <a:r>
              <a:rPr lang="en-GB" dirty="0"/>
              <a:t>• Deployment on PythonAnywhere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* Includes tests for authentication, invalid inputs, ingestion behaviour, and analytics correctness.</a:t>
            </a:r>
          </a:p>
        </p:txBody>
      </p:sp>
    </p:spTree>
    <p:extLst>
      <p:ext uri="{BB962C8B-B14F-4D97-AF65-F5344CB8AC3E}">
        <p14:creationId xmlns:p14="http://schemas.microsoft.com/office/powerpoint/2010/main" val="272154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BD2B8-A825-8F4C-0268-D798EE2EE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168" y="1490787"/>
            <a:ext cx="542578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354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</TotalTime>
  <Words>383</Words>
  <Application>Microsoft Office PowerPoint</Application>
  <PresentationFormat>Widescreen</PresentationFormat>
  <Paragraphs>61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Environmental Disaster Monitoring  &amp;  Analytics API</vt:lpstr>
      <vt:lpstr>Problem &amp; Objectives</vt:lpstr>
      <vt:lpstr>System Architecture</vt:lpstr>
      <vt:lpstr>System Architecture</vt:lpstr>
      <vt:lpstr>Version Control  • Git used for development   • Clear commit history   • Available on GitHub repository </vt:lpstr>
      <vt:lpstr>Key Features and Technical Quality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Hao Ji [sc23hj]</dc:creator>
  <cp:lastModifiedBy>Hao Ji [sc23hj]</cp:lastModifiedBy>
  <cp:revision>7</cp:revision>
  <dcterms:created xsi:type="dcterms:W3CDTF">2026-03-09T20:28:04Z</dcterms:created>
  <dcterms:modified xsi:type="dcterms:W3CDTF">2026-03-20T21:04:05Z</dcterms:modified>
</cp:coreProperties>
</file>