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1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DCE2B-9D2E-4EEE-A41D-B37A07F2151E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872BB-DD64-42BD-B521-68C05B6060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88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project is a </a:t>
            </a:r>
            <a:r>
              <a:rPr lang="en-GB" dirty="0" err="1"/>
              <a:t>FastAPI</a:t>
            </a:r>
            <a:r>
              <a:rPr lang="en-GB" dirty="0"/>
              <a:t>-based disaster event intelligence API for storing, ingesting, and analysing disaster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872BB-DD64-42BD-B521-68C05B6060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911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goal is to build a data-driven API that aggregates disaster events and provides analytical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872BB-DD64-42BD-B521-68C05B6060A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31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external data ingestion</a:t>
            </a:r>
          </a:p>
          <a:p>
            <a:r>
              <a:rPr lang="en-GB" dirty="0"/>
              <a:t>database storage</a:t>
            </a:r>
          </a:p>
          <a:p>
            <a:r>
              <a:rPr lang="en-GB" dirty="0"/>
              <a:t>REST endpoints</a:t>
            </a:r>
          </a:p>
          <a:p>
            <a:r>
              <a:rPr lang="en-GB" dirty="0"/>
              <a:t>analytics queries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872BB-DD64-42BD-B521-68C05B6060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45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BE4F-8CE5-5980-CFF2-60E50D2A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DEC1C-1AC7-7E8B-DAC6-6C40FB4F3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5A650-5513-2B6F-0861-49C518544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external data ingestion</a:t>
            </a:r>
          </a:p>
          <a:p>
            <a:r>
              <a:rPr lang="en-GB" dirty="0"/>
              <a:t>database storage</a:t>
            </a:r>
          </a:p>
          <a:p>
            <a:r>
              <a:rPr lang="en-GB" dirty="0"/>
              <a:t>REST endpoints</a:t>
            </a:r>
          </a:p>
          <a:p>
            <a:r>
              <a:rPr lang="en-GB" dirty="0"/>
              <a:t>analytics queries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DB1A-A3B3-97B1-3275-96FE3041B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7872BB-DD64-42BD-B521-68C05B606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2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API follows REST principles and provides full CRUD operations on disaster events.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872BB-DD64-42BD-B521-68C05B6060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392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Key features</a:t>
            </a:r>
          </a:p>
          <a:p>
            <a:r>
              <a:rPr lang="en-GB" dirty="0"/>
              <a:t>• RESTful API with CRUD operations</a:t>
            </a:r>
          </a:p>
          <a:p>
            <a:r>
              <a:rPr lang="en-GB" dirty="0"/>
              <a:t>• Integration with external disaster datasets</a:t>
            </a:r>
          </a:p>
          <a:p>
            <a:r>
              <a:rPr lang="en-GB" dirty="0"/>
              <a:t>• Analytical endpoints for spatial and temporal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872BB-DD64-42BD-B521-68C05B6060A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605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75D0-208A-DE25-63B6-08854B4D5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CAF60-4B05-960B-EFC5-DCB4085F7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6E4EC-E6C9-1AF7-5B9F-9366C5BA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E14A-164D-1A66-7F44-FFB6DEA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78E21-2542-7597-24F4-7BF050CA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91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E09A-8FD5-C29A-A086-FD91297C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0860-A86F-7B3F-D226-D77FD656D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35F03-4B82-6245-148D-8E61040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288A7-4E4E-5AC8-E02B-4C61743B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28A63-63CC-14DA-C952-0204C68B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03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3295-B193-D5CA-D271-11E41B6B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D9E18-5620-A5E5-DB35-FA900AF2F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B11D8-915F-C193-A7BE-CD566723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15B5-BA29-620E-E979-1C00F554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22C4-237D-C149-394F-D4C0CEEE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11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D167-8B44-6B67-A5C7-9E85936C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8842-7A88-AC28-600C-F27779807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0D06D-E853-5AD3-B87B-01FAEDACD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F2153-7D23-2F64-AEE6-660B8B67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A43F-6B9E-A015-52AC-091D28BA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7913B-00DA-61D4-9C13-D5F559F8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08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C21D-4206-9651-0E1E-B2C55BEF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1CD5-FBD2-8640-3F10-66513F100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B62EC-7B35-BA35-671F-E70924FB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BC6FC-C6B2-BB09-751B-BF21ACB46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5CD7EA-D609-7B7D-BA1E-A617E28CF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EEFB1-D2DF-9D53-2F14-096DA93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573B9-6522-B98B-B0DB-6BF7CE0F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BF543-0A6F-9EAA-90A4-ACFBB9AE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01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FCA5-3480-0CEF-8FFE-C712A936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18F68-8A8C-328A-6FB4-DB6C3A57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2D070-EC3F-E971-1081-F8188562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2A276-F91B-8111-ED8A-82380C24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92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7C54C-5755-6445-8CCF-30CE9BE1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930BA5-618C-174D-BF29-E2F48D7A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00A7-14BF-2203-BED1-0527F219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3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ECAE-985D-FCEC-5006-919973CA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C11F-129E-5C31-F871-20A11D98E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E68FF-19F5-DE20-8B98-A405D459F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E112D-78F3-2C3F-4B17-70AE1827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CC70B-E6D1-6D1F-89BA-48129C0C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40452-46EB-A534-81BA-30BDF739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28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6861-E8D3-8B32-C4E5-29EC097A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131B2-FEBA-9611-0A63-3EBA7015F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EFA81-97FD-37D8-2DCA-FE2D7A9C7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6E2FB-B8EB-A9B2-1890-0A610216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892B1-AC07-A399-8F8E-52F2045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001C2-0340-5E69-D64C-66663F41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51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75EE-6390-BC79-5C39-724416C6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F481F-F018-7B3F-E163-5FBEC6D9E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8B8B-5F32-A5A1-E343-C0D4181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35C85-A384-C46A-0C3B-A465C86C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A06B-09CD-B30C-13DD-C045FB8C1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18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3D313-2DC6-F441-A54E-CBE7317F0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D6690-C855-AD43-F13C-37A8D93EC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1DD6C-DCFC-3F3B-EFDD-42507FC7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64879-D4F7-539C-3BBD-C2B15BF9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2FA29-A0F9-35CD-7B41-12956EAB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90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8FD78-5629-0634-08FF-AE4FAE66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5FFF5-6D26-C030-A5EB-4F83C02F8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82859-C76D-A9AC-89C5-97CDB2B97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8EBC4-D72F-4504-BB2D-AB1D86E0BAC2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53174-FC5A-1068-550C-9EF75F091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19F3-4130-DBF9-E10D-E2516003F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453B4-9CBF-43B4-BB5E-47A054110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02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275B4-8AEC-C80A-D9F0-86E3247A75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56" r="23555"/>
          <a:stretch>
            <a:fillRect/>
          </a:stretch>
        </p:blipFill>
        <p:spPr>
          <a:xfrm>
            <a:off x="6096001" y="-432498"/>
            <a:ext cx="6095999" cy="7325423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AF3E2C-D34C-5949-C8D4-7C13EA726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124" y="5096004"/>
            <a:ext cx="10641924" cy="1014968"/>
          </a:xfrm>
        </p:spPr>
        <p:txBody>
          <a:bodyPr anchor="b">
            <a:normAutofit/>
          </a:bodyPr>
          <a:lstStyle/>
          <a:p>
            <a:pPr algn="l"/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Environmental Disaster Monitoring </a:t>
            </a:r>
            <a:b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GB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&amp;  Analytics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25E5-CB1F-BB66-2959-DB232A01A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77" y="6167853"/>
            <a:ext cx="6931319" cy="349725"/>
          </a:xfrm>
        </p:spPr>
        <p:txBody>
          <a:bodyPr anchor="t">
            <a:normAutofit/>
          </a:bodyPr>
          <a:lstStyle/>
          <a:p>
            <a:pPr algn="l"/>
            <a:r>
              <a:rPr lang="en-GB" sz="1600" dirty="0"/>
              <a:t>COMP3011 Coursework 1                Hao Ji</a:t>
            </a:r>
            <a:endParaRPr lang="en-GB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30" name="Picture 6" descr="API - the key to underwrite disaster risk more efficiently and accurately?  | Swiss Re">
            <a:extLst>
              <a:ext uri="{FF2B5EF4-FFF2-40B4-BE49-F238E27FC236}">
                <a16:creationId xmlns:a16="http://schemas.microsoft.com/office/drawing/2014/main" id="{3F9CC5AA-7B8F-E06C-3E1F-77C7C70C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7" r="10084" b="-3"/>
          <a:stretch>
            <a:fillRect/>
          </a:stretch>
        </p:blipFill>
        <p:spPr bwMode="auto">
          <a:xfrm>
            <a:off x="-73519" y="-94969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wildfire">
            <a:extLst>
              <a:ext uri="{FF2B5EF4-FFF2-40B4-BE49-F238E27FC236}">
                <a16:creationId xmlns:a16="http://schemas.microsoft.com/office/drawing/2014/main" id="{6D61E2C1-6808-191F-DBD8-E9485D1168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39296" cy="333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8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113E5-DF93-5AF8-4730-AABD8A89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854" y="701457"/>
            <a:ext cx="5546891" cy="1380767"/>
          </a:xfrm>
        </p:spPr>
        <p:txBody>
          <a:bodyPr>
            <a:normAutofit/>
          </a:bodyPr>
          <a:lstStyle/>
          <a:p>
            <a:r>
              <a:rPr lang="en-GB" b="1" dirty="0"/>
              <a:t>Problem &amp; 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788CB-D6B6-CF0E-B4E5-56D78ED4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52" r="14772" b="-1"/>
          <a:stretch>
            <a:fillRect/>
          </a:stretch>
        </p:blipFill>
        <p:spPr>
          <a:xfrm>
            <a:off x="-72887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EFBB6-0602-906F-9B8F-7BF39C71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855" y="2082224"/>
            <a:ext cx="5680903" cy="41423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Problem</a:t>
            </a:r>
            <a:endParaRPr lang="en-GB" dirty="0"/>
          </a:p>
          <a:p>
            <a:r>
              <a:rPr lang="en-GB" dirty="0"/>
              <a:t>External disaster APIs provide raw data but not a local intelligence system</a:t>
            </a:r>
          </a:p>
          <a:p>
            <a:r>
              <a:rPr lang="en-GB" dirty="0"/>
              <a:t>A simple single-table CRUD API would be too limited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Objectives</a:t>
            </a:r>
            <a:endParaRPr lang="en-GB" dirty="0"/>
          </a:p>
          <a:p>
            <a:r>
              <a:rPr lang="en-GB" dirty="0"/>
              <a:t>Build a SQL-backed event management API</a:t>
            </a:r>
          </a:p>
          <a:p>
            <a:r>
              <a:rPr lang="en-GB" dirty="0"/>
              <a:t>Ingest real wildfire and earthquake data</a:t>
            </a:r>
          </a:p>
          <a:p>
            <a:r>
              <a:rPr lang="en-GB" dirty="0"/>
              <a:t>Track sources and ingestion runs</a:t>
            </a:r>
          </a:p>
          <a:p>
            <a:r>
              <a:rPr lang="en-GB" dirty="0"/>
              <a:t>Provide analytics and risk assessment</a:t>
            </a:r>
          </a:p>
          <a:p>
            <a:r>
              <a:rPr lang="en-GB" dirty="0"/>
              <a:t>Support authentication, testing, and deployment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9635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90DD4-BE17-E8C5-6BF3-554FDB25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System Architecture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7B7F0-AC91-C1AE-24AC-231D4EF58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42" y="1432777"/>
            <a:ext cx="4924478" cy="50781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dirty="0"/>
              <a:t>Client / Swagger UI</a:t>
            </a:r>
            <a:br>
              <a:rPr lang="en-GB" sz="2000" dirty="0"/>
            </a:br>
            <a:r>
              <a:rPr lang="en-GB" sz="2000" dirty="0"/>
              <a:t>↓</a:t>
            </a:r>
            <a:br>
              <a:rPr lang="en-GB" sz="2000" dirty="0"/>
            </a:br>
            <a:r>
              <a:rPr lang="en-GB" sz="2000" dirty="0" err="1"/>
              <a:t>FastAPI</a:t>
            </a:r>
            <a:r>
              <a:rPr lang="en-GB" sz="2000" dirty="0"/>
              <a:t> Routes</a:t>
            </a:r>
            <a:br>
              <a:rPr lang="en-GB" sz="2000" dirty="0"/>
            </a:br>
            <a:r>
              <a:rPr lang="en-GB" sz="2000" dirty="0"/>
              <a:t>↓</a:t>
            </a:r>
            <a:br>
              <a:rPr lang="en-GB" sz="2000" dirty="0"/>
            </a:br>
            <a:r>
              <a:rPr lang="en-GB" sz="2000" dirty="0"/>
              <a:t>Auth Dependency</a:t>
            </a:r>
            <a:br>
              <a:rPr lang="en-GB" sz="2000" dirty="0"/>
            </a:br>
            <a:r>
              <a:rPr lang="en-GB" sz="2000" dirty="0"/>
              <a:t>↓</a:t>
            </a:r>
            <a:br>
              <a:rPr lang="en-GB" sz="2000" dirty="0"/>
            </a:br>
            <a:r>
              <a:rPr lang="en-GB" sz="2000" dirty="0"/>
              <a:t>CRUD / Service Layer</a:t>
            </a:r>
            <a:br>
              <a:rPr lang="en-GB" sz="2000" dirty="0"/>
            </a:br>
            <a:r>
              <a:rPr lang="en-GB" sz="2000" dirty="0"/>
              <a:t>↓</a:t>
            </a:r>
            <a:br>
              <a:rPr lang="en-GB" sz="2000" dirty="0"/>
            </a:br>
            <a:r>
              <a:rPr lang="en-GB" sz="2000" dirty="0"/>
              <a:t>SQLite Database</a:t>
            </a:r>
          </a:p>
          <a:p>
            <a:pPr marL="0" indent="0" algn="ctr">
              <a:buNone/>
            </a:pPr>
            <a:endParaRPr lang="en-GB" sz="2000" dirty="0"/>
          </a:p>
          <a:p>
            <a:pPr marL="0" indent="0" algn="ctr">
              <a:buNone/>
            </a:pPr>
            <a:r>
              <a:rPr lang="en-GB" sz="2000" dirty="0"/>
              <a:t>External APIs:</a:t>
            </a:r>
          </a:p>
          <a:p>
            <a:pPr marL="0" indent="0" algn="ctr">
              <a:buNone/>
            </a:pPr>
            <a:r>
              <a:rPr lang="en-GB" sz="2000" dirty="0"/>
              <a:t>NASA EONET</a:t>
            </a:r>
          </a:p>
          <a:p>
            <a:pPr marL="0" indent="0" algn="ctr">
              <a:buNone/>
            </a:pPr>
            <a:r>
              <a:rPr lang="en-GB" sz="2000" dirty="0"/>
              <a:t>USGS Earthquake API</a:t>
            </a:r>
          </a:p>
          <a:p>
            <a:pPr marL="0" indent="0" algn="ctr">
              <a:buNone/>
            </a:pPr>
            <a:r>
              <a:rPr lang="en-GB" sz="2000" dirty="0"/>
              <a:t>↓       </a:t>
            </a:r>
          </a:p>
          <a:p>
            <a:pPr marL="0" indent="0" algn="ctr">
              <a:buNone/>
            </a:pPr>
            <a:r>
              <a:rPr lang="en-GB" sz="2000" dirty="0"/>
              <a:t>Ingestion Module → Database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C6242A90-523F-C1EE-1D5B-AFB0DD9B5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BF6F1-212C-14D7-9EE5-8CC16609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ECBBA5-2AB4-CFF6-8101-393133F22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5D734-9BA3-734E-3FB0-A30D8227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System Architecture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C8EF0E3-62CB-421A-10DF-F4923DBEA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E0F68-D46C-F319-7EB2-BB8648C4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49" y="1621880"/>
            <a:ext cx="6943229" cy="5078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Core Data Model</a:t>
            </a:r>
            <a:br>
              <a:rPr lang="en-GB" sz="2000" dirty="0"/>
            </a:br>
            <a:br>
              <a:rPr lang="en-GB" sz="2400" dirty="0"/>
            </a:br>
            <a:r>
              <a:rPr lang="en-GB" sz="2400" dirty="0"/>
              <a:t>1. </a:t>
            </a:r>
            <a:r>
              <a:rPr lang="en-GB" sz="2400" dirty="0" err="1"/>
              <a:t>disaster_events</a:t>
            </a:r>
            <a:r>
              <a:rPr lang="en-GB" sz="2400" dirty="0"/>
              <a:t> (main data)</a:t>
            </a:r>
            <a:br>
              <a:rPr lang="en-GB" sz="2400" dirty="0"/>
            </a:br>
            <a:r>
              <a:rPr lang="en-GB" sz="2400" dirty="0"/>
              <a:t>2. </a:t>
            </a:r>
            <a:r>
              <a:rPr lang="en-GB" sz="2400" dirty="0" err="1"/>
              <a:t>source_metadata</a:t>
            </a:r>
            <a:r>
              <a:rPr lang="en-GB" sz="2400" dirty="0"/>
              <a:t> (source management)</a:t>
            </a:r>
            <a:br>
              <a:rPr lang="en-GB" sz="2400" dirty="0"/>
            </a:br>
            <a:r>
              <a:rPr lang="en-GB" sz="2400" dirty="0"/>
              <a:t>3. </a:t>
            </a:r>
            <a:r>
              <a:rPr lang="en-GB" sz="2400" dirty="0" err="1"/>
              <a:t>ingest_runs</a:t>
            </a:r>
            <a:r>
              <a:rPr lang="en-GB" sz="2400" dirty="0"/>
              <a:t> (ingestion audit)</a:t>
            </a:r>
            <a:endParaRPr lang="en-GB" sz="2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EAF65D-A18A-9648-281E-3F0409CF0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E5F78CED-7EDC-A6AD-D12B-F2305587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244563E-8A7D-C17A-F399-6122598B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1E200C5-5556-33AE-3B94-8616EEBFA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4735D9-04AA-2789-0615-1D62C6A41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49C0110-9B4C-BAFB-1FC2-705F2523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81376A9-5185-FD53-D916-29F5F1ED9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73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7EBF-FA19-39C1-D2C2-472AEF91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96" y="57764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b="1" dirty="0"/>
              <a:t>Key Features and Technical Quality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B0034B0-861B-9650-170D-5F6230B28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654" y="1760910"/>
            <a:ext cx="3333750" cy="2857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6E2B56-1079-A790-03F9-C683AAA0B9F9}"/>
              </a:ext>
            </a:extLst>
          </p:cNvPr>
          <p:cNvSpPr txBox="1"/>
          <p:nvPr/>
        </p:nvSpPr>
        <p:spPr>
          <a:xfrm>
            <a:off x="8327790" y="3998623"/>
            <a:ext cx="33964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→ </a:t>
            </a:r>
            <a:r>
              <a:rPr lang="en-GB" sz="1400" dirty="0"/>
              <a:t>Please Refer to: API Documentation,</a:t>
            </a:r>
          </a:p>
          <a:p>
            <a:r>
              <a:rPr lang="en-GB" sz="1400" dirty="0"/>
              <a:t>docs/api_documentation.pdf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BB3CC-CF3F-B8B2-0483-30BC7B7F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06" y="1172482"/>
            <a:ext cx="11291207" cy="49235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Core Features</a:t>
            </a:r>
          </a:p>
          <a:p>
            <a:pPr marL="0" indent="0">
              <a:buNone/>
            </a:pPr>
            <a:r>
              <a:rPr lang="en-GB" dirty="0"/>
              <a:t>• Full CRUD for disaster events </a:t>
            </a:r>
            <a:br>
              <a:rPr lang="en-GB" dirty="0"/>
            </a:br>
            <a:r>
              <a:rPr lang="en-GB" dirty="0"/>
              <a:t>• External ingestion (NASA EONET, USGS) </a:t>
            </a:r>
            <a:br>
              <a:rPr lang="en-GB" dirty="0"/>
            </a:br>
            <a:r>
              <a:rPr lang="en-GB" dirty="0"/>
              <a:t>• Analytics (summary, hotspots, risk assessment) </a:t>
            </a:r>
            <a:br>
              <a:rPr lang="en-GB" dirty="0"/>
            </a:br>
            <a:r>
              <a:rPr lang="en-GB" dirty="0"/>
              <a:t>• Health and database checks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Technical Quality</a:t>
            </a:r>
          </a:p>
          <a:p>
            <a:pPr marL="0" indent="0">
              <a:buNone/>
            </a:pPr>
            <a:r>
              <a:rPr lang="en-GB" dirty="0"/>
              <a:t>• HTTP Basic Authentication </a:t>
            </a:r>
            <a:br>
              <a:rPr lang="en-GB" dirty="0"/>
            </a:br>
            <a:r>
              <a:rPr lang="en-GB" dirty="0"/>
              <a:t>• </a:t>
            </a:r>
            <a:r>
              <a:rPr lang="en-GB" dirty="0" err="1"/>
              <a:t>Pydantic</a:t>
            </a:r>
            <a:r>
              <a:rPr lang="en-GB" dirty="0"/>
              <a:t> validation </a:t>
            </a:r>
            <a:br>
              <a:rPr lang="en-GB" dirty="0"/>
            </a:br>
            <a:r>
              <a:rPr lang="en-GB" dirty="0"/>
              <a:t>• Proper HTTP status codes </a:t>
            </a:r>
            <a:br>
              <a:rPr lang="en-GB" dirty="0"/>
            </a:br>
            <a:r>
              <a:rPr lang="en-GB" dirty="0"/>
              <a:t>• Automated tests (</a:t>
            </a:r>
            <a:r>
              <a:rPr lang="en-GB" dirty="0" err="1"/>
              <a:t>Pytest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• Deployment on PythonAnywhere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* Includes tests for authentication, invalid inputs, ingestion behaviour, and analytics correctness.</a:t>
            </a:r>
          </a:p>
        </p:txBody>
      </p:sp>
    </p:spTree>
    <p:extLst>
      <p:ext uri="{BB962C8B-B14F-4D97-AF65-F5344CB8AC3E}">
        <p14:creationId xmlns:p14="http://schemas.microsoft.com/office/powerpoint/2010/main" val="27215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BD2B8-A825-8F4C-0268-D798EE2E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168" y="1490787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Block Arc 1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54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340</Words>
  <Application>Microsoft Office PowerPoint</Application>
  <PresentationFormat>Widescreen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Environmental Disaster Monitoring  &amp;  Analytics API</vt:lpstr>
      <vt:lpstr>Problem &amp; Objectives</vt:lpstr>
      <vt:lpstr>System Architecture</vt:lpstr>
      <vt:lpstr>System Architecture</vt:lpstr>
      <vt:lpstr>Key Features and Technical Quality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Ji [sc23hj]</dc:creator>
  <cp:lastModifiedBy>Hao Ji [sc23hj]</cp:lastModifiedBy>
  <cp:revision>6</cp:revision>
  <dcterms:created xsi:type="dcterms:W3CDTF">2026-03-09T20:28:04Z</dcterms:created>
  <dcterms:modified xsi:type="dcterms:W3CDTF">2026-03-20T19:41:55Z</dcterms:modified>
</cp:coreProperties>
</file>